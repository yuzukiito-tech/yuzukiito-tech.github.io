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DE012C-848D-4E93-8091-4D8A4F4A11D4}">
  <a:tblStyle styleId="{52DE012C-848D-4E93-8091-4D8A4F4A11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0b17d66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0b17d6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74451e31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74451e31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0b17d66e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0b17d66e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6642cfd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6642cfd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6107367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6107367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6107367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6107367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?</a:t>
            </a:r>
            <a:r>
              <a:rPr lang="ja"/>
              <a:t>メールアドレスで登録する理由は？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データ数が多くなった時に、削除していいか聞くため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パスワード変更の連絡がきたときに対応するため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74451e31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774451e31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61073673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61073673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61073673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61073673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774451e31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774451e31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761073673c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761073673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761073673c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761073673c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75cfb885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75cfb885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75cfb885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75cfb885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75cfb885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75cfb885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75cfb8855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75cfb8855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774451e31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774451e31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75cfb8855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75cfb8855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75cfb8855a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75cfb8855a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75cfb8855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75cfb8855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5cfb8855a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5cfb8855a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APIで毎回もらってくればいいので登録必要ないかも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本の名前を変えられるか、重複不可にするかの2択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openBDに登録されていない本も登録できるようにしたい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画面遷移図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2023/08/</a:t>
            </a:r>
            <a:r>
              <a:rPr lang="ja"/>
              <a:t>25現在予定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07459" y="1833542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307450" y="3672345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953097" y="3672345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書籍削除画面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2501203" y="1833542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694947" y="1833542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694953" y="3672445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書籍情報登録画面</a:t>
            </a:r>
            <a:endParaRPr/>
          </a:p>
        </p:txBody>
      </p:sp>
      <p:cxnSp>
        <p:nvCxnSpPr>
          <p:cNvPr id="66" name="Google Shape;66;p14"/>
          <p:cNvCxnSpPr>
            <a:stCxn id="60" idx="3"/>
            <a:endCxn id="63" idx="1"/>
          </p:cNvCxnSpPr>
          <p:nvPr/>
        </p:nvCxnSpPr>
        <p:spPr>
          <a:xfrm>
            <a:off x="2074759" y="2483192"/>
            <a:ext cx="42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0" idx="2"/>
            <a:endCxn id="61" idx="0"/>
          </p:cNvCxnSpPr>
          <p:nvPr/>
        </p:nvCxnSpPr>
        <p:spPr>
          <a:xfrm>
            <a:off x="1191109" y="3132842"/>
            <a:ext cx="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3" idx="3"/>
            <a:endCxn id="64" idx="1"/>
          </p:cNvCxnSpPr>
          <p:nvPr/>
        </p:nvCxnSpPr>
        <p:spPr>
          <a:xfrm>
            <a:off x="4268503" y="2483192"/>
            <a:ext cx="42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4" idx="3"/>
            <a:endCxn id="70" idx="1"/>
          </p:cNvCxnSpPr>
          <p:nvPr/>
        </p:nvCxnSpPr>
        <p:spPr>
          <a:xfrm>
            <a:off x="6462247" y="2483192"/>
            <a:ext cx="49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>
            <a:stCxn id="64" idx="2"/>
            <a:endCxn id="62" idx="0"/>
          </p:cNvCxnSpPr>
          <p:nvPr/>
        </p:nvCxnSpPr>
        <p:spPr>
          <a:xfrm>
            <a:off x="5578597" y="3132842"/>
            <a:ext cx="225810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>
            <a:stCxn id="63" idx="2"/>
            <a:endCxn id="65" idx="0"/>
          </p:cNvCxnSpPr>
          <p:nvPr/>
        </p:nvCxnSpPr>
        <p:spPr>
          <a:xfrm>
            <a:off x="3384853" y="3132842"/>
            <a:ext cx="2193900" cy="5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3" idx="1"/>
            <a:endCxn id="60" idx="3"/>
          </p:cNvCxnSpPr>
          <p:nvPr/>
        </p:nvCxnSpPr>
        <p:spPr>
          <a:xfrm rot="10800000">
            <a:off x="2074903" y="2483192"/>
            <a:ext cx="42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65" idx="0"/>
            <a:endCxn id="63" idx="2"/>
          </p:cNvCxnSpPr>
          <p:nvPr/>
        </p:nvCxnSpPr>
        <p:spPr>
          <a:xfrm rot="10800000">
            <a:off x="3384703" y="3132745"/>
            <a:ext cx="2193900" cy="5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stCxn id="64" idx="1"/>
            <a:endCxn id="63" idx="3"/>
          </p:cNvCxnSpPr>
          <p:nvPr/>
        </p:nvCxnSpPr>
        <p:spPr>
          <a:xfrm rot="10800000">
            <a:off x="4268647" y="2483192"/>
            <a:ext cx="42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>
            <a:stCxn id="70" idx="1"/>
            <a:endCxn id="64" idx="3"/>
          </p:cNvCxnSpPr>
          <p:nvPr/>
        </p:nvCxnSpPr>
        <p:spPr>
          <a:xfrm rot="10800000">
            <a:off x="6462300" y="2483175"/>
            <a:ext cx="49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4"/>
          <p:cNvCxnSpPr>
            <a:stCxn id="62" idx="0"/>
            <a:endCxn id="64" idx="2"/>
          </p:cNvCxnSpPr>
          <p:nvPr/>
        </p:nvCxnSpPr>
        <p:spPr>
          <a:xfrm rot="10800000">
            <a:off x="5578647" y="3132945"/>
            <a:ext cx="225810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4"/>
          <p:cNvCxnSpPr>
            <a:stCxn id="61" idx="0"/>
            <a:endCxn id="60" idx="2"/>
          </p:cNvCxnSpPr>
          <p:nvPr/>
        </p:nvCxnSpPr>
        <p:spPr>
          <a:xfrm rot="10800000">
            <a:off x="1191100" y="3132945"/>
            <a:ext cx="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/>
          <p:nvPr/>
        </p:nvSpPr>
        <p:spPr>
          <a:xfrm>
            <a:off x="6953100" y="1833525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書籍情報更新画面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307450" y="297100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使い方説明画面</a:t>
            </a:r>
            <a:endParaRPr/>
          </a:p>
        </p:txBody>
      </p:sp>
      <p:cxnSp>
        <p:nvCxnSpPr>
          <p:cNvPr id="80" name="Google Shape;80;p14"/>
          <p:cNvCxnSpPr>
            <a:stCxn id="60" idx="0"/>
            <a:endCxn id="79" idx="2"/>
          </p:cNvCxnSpPr>
          <p:nvPr/>
        </p:nvCxnSpPr>
        <p:spPr>
          <a:xfrm rot="10800000">
            <a:off x="1191109" y="1596542"/>
            <a:ext cx="0" cy="23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4"/>
          <p:cNvCxnSpPr>
            <a:stCxn id="63" idx="0"/>
            <a:endCxn id="79" idx="3"/>
          </p:cNvCxnSpPr>
          <p:nvPr/>
        </p:nvCxnSpPr>
        <p:spPr>
          <a:xfrm rot="10800000">
            <a:off x="2074753" y="946742"/>
            <a:ext cx="1310100" cy="8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4498600" y="58850"/>
            <a:ext cx="4546200" cy="5084700"/>
          </a:xfrm>
          <a:prstGeom prst="flowChartAlternate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07450" y="1833552"/>
            <a:ext cx="1767300" cy="16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307450" y="3672345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952997" y="2553470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書籍削除画面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2501200" y="297098"/>
            <a:ext cx="1767300" cy="28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727150" y="297105"/>
            <a:ext cx="1767300" cy="21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671853" y="3482520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書籍情報登録画面</a:t>
            </a:r>
            <a:endParaRPr/>
          </a:p>
        </p:txBody>
      </p:sp>
      <p:cxnSp>
        <p:nvCxnSpPr>
          <p:cNvPr id="93" name="Google Shape;93;p15"/>
          <p:cNvCxnSpPr>
            <a:stCxn id="94" idx="3"/>
            <a:endCxn id="90" idx="1"/>
          </p:cNvCxnSpPr>
          <p:nvPr/>
        </p:nvCxnSpPr>
        <p:spPr>
          <a:xfrm flipH="1" rot="10800000">
            <a:off x="1889500" y="1715125"/>
            <a:ext cx="611700" cy="10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6" idx="2"/>
            <a:endCxn id="88" idx="0"/>
          </p:cNvCxnSpPr>
          <p:nvPr/>
        </p:nvCxnSpPr>
        <p:spPr>
          <a:xfrm>
            <a:off x="884600" y="3400663"/>
            <a:ext cx="306600" cy="2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5"/>
          <p:cNvCxnSpPr>
            <a:stCxn id="98" idx="3"/>
            <a:endCxn id="91" idx="1"/>
          </p:cNvCxnSpPr>
          <p:nvPr/>
        </p:nvCxnSpPr>
        <p:spPr>
          <a:xfrm flipH="1" rot="10800000">
            <a:off x="3947638" y="1390188"/>
            <a:ext cx="779400" cy="5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5"/>
          <p:cNvCxnSpPr>
            <a:stCxn id="100" idx="3"/>
            <a:endCxn id="101" idx="1"/>
          </p:cNvCxnSpPr>
          <p:nvPr/>
        </p:nvCxnSpPr>
        <p:spPr>
          <a:xfrm flipH="1" rot="10800000">
            <a:off x="6205788" y="940175"/>
            <a:ext cx="747300" cy="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5"/>
          <p:cNvCxnSpPr>
            <a:stCxn id="103" idx="2"/>
            <a:endCxn id="89" idx="0"/>
          </p:cNvCxnSpPr>
          <p:nvPr/>
        </p:nvCxnSpPr>
        <p:spPr>
          <a:xfrm>
            <a:off x="5643000" y="2355925"/>
            <a:ext cx="219360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5"/>
          <p:cNvCxnSpPr>
            <a:stCxn id="105" idx="2"/>
            <a:endCxn id="92" idx="0"/>
          </p:cNvCxnSpPr>
          <p:nvPr/>
        </p:nvCxnSpPr>
        <p:spPr>
          <a:xfrm>
            <a:off x="3641288" y="3106450"/>
            <a:ext cx="191430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5"/>
          <p:cNvCxnSpPr>
            <a:stCxn id="107" idx="1"/>
            <a:endCxn id="87" idx="3"/>
          </p:cNvCxnSpPr>
          <p:nvPr/>
        </p:nvCxnSpPr>
        <p:spPr>
          <a:xfrm flipH="1">
            <a:off x="2074750" y="2461163"/>
            <a:ext cx="747300" cy="1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5"/>
          <p:cNvCxnSpPr>
            <a:stCxn id="109" idx="1"/>
            <a:endCxn id="90" idx="2"/>
          </p:cNvCxnSpPr>
          <p:nvPr/>
        </p:nvCxnSpPr>
        <p:spPr>
          <a:xfrm rot="10800000">
            <a:off x="3384988" y="3132888"/>
            <a:ext cx="1607700" cy="99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>
            <a:stCxn id="111" idx="1"/>
            <a:endCxn id="90" idx="3"/>
          </p:cNvCxnSpPr>
          <p:nvPr/>
        </p:nvCxnSpPr>
        <p:spPr>
          <a:xfrm flipH="1">
            <a:off x="4268388" y="1635863"/>
            <a:ext cx="811800" cy="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5"/>
          <p:cNvCxnSpPr>
            <a:stCxn id="113" idx="1"/>
            <a:endCxn id="91" idx="2"/>
          </p:cNvCxnSpPr>
          <p:nvPr/>
        </p:nvCxnSpPr>
        <p:spPr>
          <a:xfrm rot="10800000">
            <a:off x="5610938" y="2483150"/>
            <a:ext cx="1662900" cy="7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5"/>
          <p:cNvCxnSpPr>
            <a:stCxn id="115" idx="0"/>
            <a:endCxn id="87" idx="2"/>
          </p:cNvCxnSpPr>
          <p:nvPr/>
        </p:nvCxnSpPr>
        <p:spPr>
          <a:xfrm rot="10800000">
            <a:off x="1191188" y="3482513"/>
            <a:ext cx="256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5"/>
          <p:cNvSpPr/>
          <p:nvPr/>
        </p:nvSpPr>
        <p:spPr>
          <a:xfrm>
            <a:off x="6953100" y="290600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書籍情報更新画面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307450" y="297100"/>
            <a:ext cx="1767300" cy="12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使い方説明画面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(別ウィンドウ)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＊バツ閉じ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5"/>
          <p:cNvCxnSpPr>
            <a:stCxn id="118" idx="0"/>
            <a:endCxn id="116" idx="2"/>
          </p:cNvCxnSpPr>
          <p:nvPr/>
        </p:nvCxnSpPr>
        <p:spPr>
          <a:xfrm rot="10800000">
            <a:off x="1191100" y="1596325"/>
            <a:ext cx="0" cy="63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5"/>
          <p:cNvCxnSpPr>
            <a:stCxn id="120" idx="1"/>
            <a:endCxn id="116" idx="3"/>
          </p:cNvCxnSpPr>
          <p:nvPr/>
        </p:nvCxnSpPr>
        <p:spPr>
          <a:xfrm rot="10800000">
            <a:off x="2074750" y="946888"/>
            <a:ext cx="531000" cy="5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5"/>
          <p:cNvSpPr/>
          <p:nvPr/>
        </p:nvSpPr>
        <p:spPr>
          <a:xfrm>
            <a:off x="321800" y="3005563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新規ユーザ登録ボタン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412000" y="2610475"/>
            <a:ext cx="14775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</a:t>
            </a:r>
            <a:r>
              <a:rPr lang="ja"/>
              <a:t>ボタン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2822038" y="176593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書籍背表紙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クリック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080200" y="1960825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ボタン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88700" y="4412675"/>
            <a:ext cx="32478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ホバーした形で表示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2950250" y="74270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書籍名検索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2822050" y="2263613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r>
              <a:rPr lang="ja"/>
              <a:t>ボタン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080188" y="796325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更新ボタン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080188" y="1438313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992688" y="393013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273838" y="300110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273938" y="119478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884588" y="4149413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cxnSp>
        <p:nvCxnSpPr>
          <p:cNvPr id="124" name="Google Shape;124;p15"/>
          <p:cNvCxnSpPr>
            <a:stCxn id="123" idx="1"/>
            <a:endCxn id="91" idx="3"/>
          </p:cNvCxnSpPr>
          <p:nvPr/>
        </p:nvCxnSpPr>
        <p:spPr>
          <a:xfrm rot="10800000">
            <a:off x="6494538" y="1390238"/>
            <a:ext cx="779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5"/>
          <p:cNvSpPr/>
          <p:nvPr/>
        </p:nvSpPr>
        <p:spPr>
          <a:xfrm>
            <a:off x="3078488" y="271135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</a:t>
            </a:r>
            <a:r>
              <a:rPr lang="ja"/>
              <a:t>ボタン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12000" y="2226325"/>
            <a:ext cx="15582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使い方ボタン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2605750" y="1257538"/>
            <a:ext cx="15582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</a:t>
            </a:r>
            <a:r>
              <a:rPr lang="ja"/>
              <a:t>ボタン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273938" y="72068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更新</a:t>
            </a:r>
            <a:r>
              <a:rPr lang="ja"/>
              <a:t>ボタン</a:t>
            </a:r>
            <a:endParaRPr/>
          </a:p>
        </p:txBody>
      </p:sp>
      <p:cxnSp>
        <p:nvCxnSpPr>
          <p:cNvPr id="126" name="Google Shape;126;p15"/>
          <p:cNvCxnSpPr>
            <a:stCxn id="125" idx="1"/>
            <a:endCxn id="91" idx="3"/>
          </p:cNvCxnSpPr>
          <p:nvPr/>
        </p:nvCxnSpPr>
        <p:spPr>
          <a:xfrm flipH="1">
            <a:off x="6494538" y="918238"/>
            <a:ext cx="7794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5"/>
          <p:cNvSpPr/>
          <p:nvPr/>
        </p:nvSpPr>
        <p:spPr>
          <a:xfrm>
            <a:off x="7273850" y="340090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削除ボタン</a:t>
            </a:r>
            <a:endParaRPr/>
          </a:p>
        </p:txBody>
      </p:sp>
      <p:cxnSp>
        <p:nvCxnSpPr>
          <p:cNvPr id="128" name="Google Shape;128;p15"/>
          <p:cNvCxnSpPr>
            <a:stCxn id="127" idx="1"/>
            <a:endCxn id="91" idx="2"/>
          </p:cNvCxnSpPr>
          <p:nvPr/>
        </p:nvCxnSpPr>
        <p:spPr>
          <a:xfrm rot="10800000">
            <a:off x="5610950" y="2483350"/>
            <a:ext cx="1662900" cy="11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5"/>
          <p:cNvSpPr/>
          <p:nvPr/>
        </p:nvSpPr>
        <p:spPr>
          <a:xfrm>
            <a:off x="4992688" y="432523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</a:t>
            </a:r>
            <a:r>
              <a:rPr lang="ja"/>
              <a:t>ボタン</a:t>
            </a:r>
            <a:endParaRPr/>
          </a:p>
        </p:txBody>
      </p:sp>
      <p:cxnSp>
        <p:nvCxnSpPr>
          <p:cNvPr id="130" name="Google Shape;130;p15"/>
          <p:cNvCxnSpPr>
            <a:stCxn id="129" idx="1"/>
          </p:cNvCxnSpPr>
          <p:nvPr/>
        </p:nvCxnSpPr>
        <p:spPr>
          <a:xfrm rot="10800000">
            <a:off x="3354388" y="3074988"/>
            <a:ext cx="1638300" cy="14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2960025" y="58850"/>
            <a:ext cx="6084600" cy="5084700"/>
          </a:xfrm>
          <a:prstGeom prst="flowChartAlternate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07450" y="5766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07438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6241450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書籍削除画面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3274450" y="585775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241450" y="5766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274450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書籍情報登録・更新画面</a:t>
            </a:r>
            <a:endParaRPr/>
          </a:p>
        </p:txBody>
      </p:sp>
      <p:cxnSp>
        <p:nvCxnSpPr>
          <p:cNvPr id="142" name="Google Shape;142;p16"/>
          <p:cNvCxnSpPr>
            <a:stCxn id="143" idx="3"/>
            <a:endCxn id="139" idx="1"/>
          </p:cNvCxnSpPr>
          <p:nvPr/>
        </p:nvCxnSpPr>
        <p:spPr>
          <a:xfrm>
            <a:off x="2628100" y="1061025"/>
            <a:ext cx="646500" cy="4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>
            <a:stCxn id="136" idx="2"/>
            <a:endCxn id="137" idx="0"/>
          </p:cNvCxnSpPr>
          <p:nvPr/>
        </p:nvCxnSpPr>
        <p:spPr>
          <a:xfrm>
            <a:off x="1502500" y="252210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>
            <a:stCxn id="146" idx="3"/>
            <a:endCxn id="140" idx="1"/>
          </p:cNvCxnSpPr>
          <p:nvPr/>
        </p:nvCxnSpPr>
        <p:spPr>
          <a:xfrm>
            <a:off x="5459375" y="1142325"/>
            <a:ext cx="7821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6"/>
          <p:cNvCxnSpPr>
            <a:stCxn id="140" idx="2"/>
            <a:endCxn id="141" idx="0"/>
          </p:cNvCxnSpPr>
          <p:nvPr/>
        </p:nvCxnSpPr>
        <p:spPr>
          <a:xfrm flipH="1">
            <a:off x="4469500" y="2522100"/>
            <a:ext cx="29670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6"/>
          <p:cNvCxnSpPr>
            <a:stCxn id="140" idx="2"/>
            <a:endCxn id="138" idx="0"/>
          </p:cNvCxnSpPr>
          <p:nvPr/>
        </p:nvCxnSpPr>
        <p:spPr>
          <a:xfrm>
            <a:off x="7436500" y="252210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6"/>
          <p:cNvCxnSpPr>
            <a:stCxn id="139" idx="2"/>
            <a:endCxn id="141" idx="0"/>
          </p:cNvCxnSpPr>
          <p:nvPr/>
        </p:nvCxnSpPr>
        <p:spPr>
          <a:xfrm>
            <a:off x="4469500" y="2531275"/>
            <a:ext cx="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6"/>
          <p:cNvSpPr/>
          <p:nvPr/>
        </p:nvSpPr>
        <p:spPr>
          <a:xfrm>
            <a:off x="376900" y="190868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新規ユーザ登録ボタン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502500" y="863475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4333775" y="944775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書籍表紙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クリック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504225" y="183825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新規書籍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登録ボタン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436500" y="209818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</a:t>
            </a:r>
            <a:r>
              <a:rPr lang="ja"/>
              <a:t>削除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ボタン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279900" y="4812225"/>
            <a:ext cx="32478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書籍一覧画面にホバーした形で表示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050850" y="181488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書籍名検索</a:t>
            </a:r>
            <a:endParaRPr/>
          </a:p>
        </p:txBody>
      </p:sp>
      <p:cxnSp>
        <p:nvCxnSpPr>
          <p:cNvPr id="155" name="Google Shape;155;p16"/>
          <p:cNvCxnSpPr>
            <a:stCxn id="139" idx="3"/>
            <a:endCxn id="154" idx="3"/>
          </p:cNvCxnSpPr>
          <p:nvPr/>
        </p:nvCxnSpPr>
        <p:spPr>
          <a:xfrm flipH="1" rot="10800000">
            <a:off x="5664550" y="378925"/>
            <a:ext cx="511800" cy="11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6"/>
          <p:cNvCxnSpPr>
            <a:stCxn id="154" idx="1"/>
            <a:endCxn id="139" idx="0"/>
          </p:cNvCxnSpPr>
          <p:nvPr/>
        </p:nvCxnSpPr>
        <p:spPr>
          <a:xfrm flipH="1">
            <a:off x="4469450" y="379038"/>
            <a:ext cx="581400" cy="2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6"/>
          <p:cNvCxnSpPr>
            <a:stCxn id="158" idx="1"/>
            <a:endCxn id="136" idx="3"/>
          </p:cNvCxnSpPr>
          <p:nvPr/>
        </p:nvCxnSpPr>
        <p:spPr>
          <a:xfrm rot="10800000">
            <a:off x="2697688" y="1549325"/>
            <a:ext cx="646200" cy="5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6"/>
          <p:cNvSpPr/>
          <p:nvPr/>
        </p:nvSpPr>
        <p:spPr>
          <a:xfrm>
            <a:off x="3343888" y="1885475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cxnSp>
        <p:nvCxnSpPr>
          <p:cNvPr id="159" name="Google Shape;159;p16"/>
          <p:cNvCxnSpPr/>
          <p:nvPr/>
        </p:nvCxnSpPr>
        <p:spPr>
          <a:xfrm rot="10800000">
            <a:off x="4461400" y="2445700"/>
            <a:ext cx="8100" cy="5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6"/>
          <p:cNvCxnSpPr>
            <a:stCxn id="138" idx="0"/>
            <a:endCxn id="140" idx="2"/>
          </p:cNvCxnSpPr>
          <p:nvPr/>
        </p:nvCxnSpPr>
        <p:spPr>
          <a:xfrm rot="10800000">
            <a:off x="7436500" y="252220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6"/>
          <p:cNvCxnSpPr>
            <a:stCxn id="141" idx="0"/>
            <a:endCxn id="140" idx="2"/>
          </p:cNvCxnSpPr>
          <p:nvPr/>
        </p:nvCxnSpPr>
        <p:spPr>
          <a:xfrm flipH="1" rot="10800000">
            <a:off x="4469500" y="2522200"/>
            <a:ext cx="29670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6"/>
          <p:cNvSpPr/>
          <p:nvPr/>
        </p:nvSpPr>
        <p:spPr>
          <a:xfrm>
            <a:off x="6241450" y="205410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</a:t>
            </a:r>
            <a:r>
              <a:rPr lang="ja"/>
              <a:t>情報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更新ボタン</a:t>
            </a:r>
            <a:endParaRPr/>
          </a:p>
        </p:txBody>
      </p:sp>
      <p:cxnSp>
        <p:nvCxnSpPr>
          <p:cNvPr id="163" name="Google Shape;163;p16"/>
          <p:cNvCxnSpPr>
            <a:stCxn id="164" idx="1"/>
            <a:endCxn id="139" idx="3"/>
          </p:cNvCxnSpPr>
          <p:nvPr/>
        </p:nvCxnSpPr>
        <p:spPr>
          <a:xfrm rot="10800000">
            <a:off x="5664700" y="1558650"/>
            <a:ext cx="17718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6"/>
          <p:cNvCxnSpPr>
            <a:stCxn id="137" idx="0"/>
            <a:endCxn id="136" idx="2"/>
          </p:cNvCxnSpPr>
          <p:nvPr/>
        </p:nvCxnSpPr>
        <p:spPr>
          <a:xfrm rot="10800000">
            <a:off x="1502488" y="252220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6"/>
          <p:cNvSpPr/>
          <p:nvPr/>
        </p:nvSpPr>
        <p:spPr>
          <a:xfrm>
            <a:off x="7436500" y="1626300"/>
            <a:ext cx="1125600" cy="3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戻るボタン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81625" y="146675"/>
            <a:ext cx="7829100" cy="46275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旧版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</a:t>
            </a:r>
            <a:r>
              <a:rPr lang="ja"/>
              <a:t>設計</a:t>
            </a:r>
            <a:r>
              <a:rPr lang="ja"/>
              <a:t>図</a:t>
            </a:r>
            <a:endParaRPr/>
          </a:p>
        </p:txBody>
      </p:sp>
      <p:sp>
        <p:nvSpPr>
          <p:cNvPr id="172" name="Google Shape;17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2023/08/25現在予定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307450" y="576650"/>
            <a:ext cx="8273100" cy="431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2146450" y="947325"/>
            <a:ext cx="4595100" cy="377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236500" y="1209550"/>
            <a:ext cx="2415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所持書籍登録データベース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2562450" y="1756825"/>
            <a:ext cx="3224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メールアドレス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758250" y="2107088"/>
            <a:ext cx="3302700" cy="4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616075" y="2736963"/>
            <a:ext cx="3224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パスワード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2746600" y="3154863"/>
            <a:ext cx="3302700" cy="4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162350" y="3993675"/>
            <a:ext cx="927000" cy="48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2452075" y="4026225"/>
            <a:ext cx="1659300" cy="41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 flipH="1">
            <a:off x="3345000" y="1514075"/>
            <a:ext cx="1659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エラーメッセージ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741550" y="773675"/>
            <a:ext cx="3104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メールアドレスかパスワードが間違っている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などのエラーメッセージを表示する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181700" y="1515200"/>
            <a:ext cx="1540500" cy="41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使い方はこちら</a:t>
            </a:r>
            <a:endParaRPr/>
          </a:p>
        </p:txBody>
      </p:sp>
      <p:cxnSp>
        <p:nvCxnSpPr>
          <p:cNvPr id="189" name="Google Shape;189;p18"/>
          <p:cNvCxnSpPr>
            <a:stCxn id="187" idx="1"/>
            <a:endCxn id="186" idx="1"/>
          </p:cNvCxnSpPr>
          <p:nvPr/>
        </p:nvCxnSpPr>
        <p:spPr>
          <a:xfrm flipH="1">
            <a:off x="5004250" y="1143875"/>
            <a:ext cx="1737300" cy="52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8"/>
          <p:cNvCxnSpPr>
            <a:stCxn id="184" idx="2"/>
            <a:endCxn id="191" idx="1"/>
          </p:cNvCxnSpPr>
          <p:nvPr/>
        </p:nvCxnSpPr>
        <p:spPr>
          <a:xfrm>
            <a:off x="5625850" y="4476675"/>
            <a:ext cx="371100" cy="5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8"/>
          <p:cNvCxnSpPr>
            <a:stCxn id="185" idx="2"/>
            <a:endCxn id="193" idx="0"/>
          </p:cNvCxnSpPr>
          <p:nvPr/>
        </p:nvCxnSpPr>
        <p:spPr>
          <a:xfrm flipH="1">
            <a:off x="2216125" y="4444125"/>
            <a:ext cx="1065600" cy="38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18"/>
          <p:cNvSpPr txBox="1"/>
          <p:nvPr/>
        </p:nvSpPr>
        <p:spPr>
          <a:xfrm>
            <a:off x="5996825" y="4871300"/>
            <a:ext cx="2260200" cy="31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3925" y="4829475"/>
            <a:ext cx="3104400" cy="31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新規ユーザー登録画面に遷移する</a:t>
            </a:r>
            <a:endParaRPr/>
          </a:p>
        </p:txBody>
      </p:sp>
      <p:cxnSp>
        <p:nvCxnSpPr>
          <p:cNvPr id="194" name="Google Shape;194;p18"/>
          <p:cNvCxnSpPr>
            <a:stCxn id="195" idx="3"/>
            <a:endCxn id="185" idx="1"/>
          </p:cNvCxnSpPr>
          <p:nvPr/>
        </p:nvCxnSpPr>
        <p:spPr>
          <a:xfrm>
            <a:off x="2048475" y="4095475"/>
            <a:ext cx="403500" cy="1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18"/>
          <p:cNvSpPr txBox="1"/>
          <p:nvPr/>
        </p:nvSpPr>
        <p:spPr>
          <a:xfrm>
            <a:off x="892875" y="3820225"/>
            <a:ext cx="1155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背景同色：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ボタン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パーツ</a:t>
            </a:r>
            <a:endParaRPr/>
          </a:p>
        </p:txBody>
      </p:sp>
      <p:cxnSp>
        <p:nvCxnSpPr>
          <p:cNvPr id="196" name="Google Shape;196;p18"/>
          <p:cNvCxnSpPr>
            <a:stCxn id="197" idx="3"/>
            <a:endCxn id="181" idx="1"/>
          </p:cNvCxnSpPr>
          <p:nvPr/>
        </p:nvCxnSpPr>
        <p:spPr>
          <a:xfrm>
            <a:off x="1590925" y="2316050"/>
            <a:ext cx="11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8"/>
          <p:cNvCxnSpPr>
            <a:stCxn id="197" idx="3"/>
            <a:endCxn id="183" idx="1"/>
          </p:cNvCxnSpPr>
          <p:nvPr/>
        </p:nvCxnSpPr>
        <p:spPr>
          <a:xfrm>
            <a:off x="1590925" y="2316050"/>
            <a:ext cx="1155600" cy="10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18"/>
          <p:cNvSpPr txBox="1"/>
          <p:nvPr/>
        </p:nvSpPr>
        <p:spPr>
          <a:xfrm>
            <a:off x="663925" y="2011700"/>
            <a:ext cx="927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940875" y="2391800"/>
            <a:ext cx="1737300" cy="740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別ウィンドウで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使い方説明画面を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立ち上げる</a:t>
            </a:r>
            <a:endParaRPr/>
          </a:p>
        </p:txBody>
      </p:sp>
      <p:cxnSp>
        <p:nvCxnSpPr>
          <p:cNvPr id="200" name="Google Shape;200;p18"/>
          <p:cNvCxnSpPr>
            <a:stCxn id="199" idx="1"/>
            <a:endCxn id="188" idx="3"/>
          </p:cNvCxnSpPr>
          <p:nvPr/>
        </p:nvCxnSpPr>
        <p:spPr>
          <a:xfrm rot="10800000">
            <a:off x="6722275" y="1724000"/>
            <a:ext cx="1218600" cy="10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8"/>
          <p:cNvSpPr txBox="1"/>
          <p:nvPr/>
        </p:nvSpPr>
        <p:spPr>
          <a:xfrm>
            <a:off x="-106025" y="1087025"/>
            <a:ext cx="2260200" cy="639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ログイン状態の時自動で書籍一覧画面に遷移する</a:t>
            </a:r>
            <a:endParaRPr/>
          </a:p>
        </p:txBody>
      </p:sp>
      <p:cxnSp>
        <p:nvCxnSpPr>
          <p:cNvPr id="202" name="Google Shape;202;p18"/>
          <p:cNvCxnSpPr>
            <a:stCxn id="187" idx="0"/>
            <a:endCxn id="203" idx="2"/>
          </p:cNvCxnSpPr>
          <p:nvPr/>
        </p:nvCxnSpPr>
        <p:spPr>
          <a:xfrm rot="10800000">
            <a:off x="8048050" y="563675"/>
            <a:ext cx="245700" cy="2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18"/>
          <p:cNvSpPr txBox="1"/>
          <p:nvPr/>
        </p:nvSpPr>
        <p:spPr>
          <a:xfrm>
            <a:off x="5438375" y="-176650"/>
            <a:ext cx="5219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エラー条件：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・メールアドレスが登録されていない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・メールアドレスかパスワードのどちらかが間違っている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307482" y="320725"/>
            <a:ext cx="8495100" cy="457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2133450" y="685350"/>
            <a:ext cx="4595100" cy="377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3523650" y="1037875"/>
            <a:ext cx="1814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ユーザー登録画面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549450" y="1586250"/>
            <a:ext cx="3224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メールアドレス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745250" y="1936513"/>
            <a:ext cx="3302700" cy="4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2614713" y="2704675"/>
            <a:ext cx="3224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パスワード(8文字以上)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2745238" y="3122575"/>
            <a:ext cx="3302700" cy="4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533250" y="3687925"/>
            <a:ext cx="665700" cy="48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 flipH="1">
            <a:off x="3489250" y="1344625"/>
            <a:ext cx="18147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エラーメッセージ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5338450" y="320725"/>
            <a:ext cx="1814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エラーメッセージを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表示する</a:t>
            </a:r>
            <a:endParaRPr/>
          </a:p>
        </p:txBody>
      </p:sp>
      <p:cxnSp>
        <p:nvCxnSpPr>
          <p:cNvPr id="218" name="Google Shape;218;p19"/>
          <p:cNvCxnSpPr>
            <a:stCxn id="216" idx="1"/>
            <a:endCxn id="217" idx="1"/>
          </p:cNvCxnSpPr>
          <p:nvPr/>
        </p:nvCxnSpPr>
        <p:spPr>
          <a:xfrm flipH="1" rot="10800000">
            <a:off x="5303950" y="562075"/>
            <a:ext cx="34500" cy="9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9"/>
          <p:cNvSpPr txBox="1"/>
          <p:nvPr/>
        </p:nvSpPr>
        <p:spPr>
          <a:xfrm>
            <a:off x="2667000" y="3720475"/>
            <a:ext cx="549600" cy="41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</a:t>
            </a:r>
            <a:endParaRPr/>
          </a:p>
        </p:txBody>
      </p:sp>
      <p:cxnSp>
        <p:nvCxnSpPr>
          <p:cNvPr id="220" name="Google Shape;220;p19"/>
          <p:cNvCxnSpPr>
            <a:stCxn id="215" idx="1"/>
            <a:endCxn id="221" idx="1"/>
          </p:cNvCxnSpPr>
          <p:nvPr/>
        </p:nvCxnSpPr>
        <p:spPr>
          <a:xfrm flipH="1">
            <a:off x="5298950" y="3929425"/>
            <a:ext cx="234300" cy="8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9"/>
          <p:cNvCxnSpPr>
            <a:stCxn id="219" idx="2"/>
            <a:endCxn id="223" idx="3"/>
          </p:cNvCxnSpPr>
          <p:nvPr/>
        </p:nvCxnSpPr>
        <p:spPr>
          <a:xfrm flipH="1">
            <a:off x="2549400" y="4138375"/>
            <a:ext cx="392400" cy="67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19"/>
          <p:cNvSpPr txBox="1"/>
          <p:nvPr/>
        </p:nvSpPr>
        <p:spPr>
          <a:xfrm>
            <a:off x="1257300" y="4566925"/>
            <a:ext cx="1292100" cy="48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5298950" y="4458150"/>
            <a:ext cx="2206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エラーメッセージ欄の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表記を変更する</a:t>
            </a:r>
            <a:endParaRPr/>
          </a:p>
        </p:txBody>
      </p:sp>
      <p:cxnSp>
        <p:nvCxnSpPr>
          <p:cNvPr id="224" name="Google Shape;224;p19"/>
          <p:cNvCxnSpPr>
            <a:stCxn id="225" idx="3"/>
            <a:endCxn id="212" idx="1"/>
          </p:cNvCxnSpPr>
          <p:nvPr/>
        </p:nvCxnSpPr>
        <p:spPr>
          <a:xfrm>
            <a:off x="1679825" y="2145475"/>
            <a:ext cx="106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9"/>
          <p:cNvCxnSpPr>
            <a:stCxn id="225" idx="3"/>
            <a:endCxn id="214" idx="1"/>
          </p:cNvCxnSpPr>
          <p:nvPr/>
        </p:nvCxnSpPr>
        <p:spPr>
          <a:xfrm>
            <a:off x="1679825" y="2145475"/>
            <a:ext cx="1065300" cy="11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19"/>
          <p:cNvSpPr txBox="1"/>
          <p:nvPr/>
        </p:nvSpPr>
        <p:spPr>
          <a:xfrm>
            <a:off x="752825" y="1841125"/>
            <a:ext cx="927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850900" y="817950"/>
            <a:ext cx="18147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パスワー</a:t>
            </a:r>
            <a:r>
              <a:rPr lang="ja"/>
              <a:t>ドの規格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・使用可能文字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　半角英数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・2種混合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・8文字以上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19"/>
          <p:cNvCxnSpPr>
            <a:stCxn id="215" idx="3"/>
            <a:endCxn id="229" idx="1"/>
          </p:cNvCxnSpPr>
          <p:nvPr/>
        </p:nvCxnSpPr>
        <p:spPr>
          <a:xfrm>
            <a:off x="6198950" y="3929425"/>
            <a:ext cx="2709300" cy="1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19"/>
          <p:cNvSpPr txBox="1"/>
          <p:nvPr/>
        </p:nvSpPr>
        <p:spPr>
          <a:xfrm>
            <a:off x="6983600" y="2933938"/>
            <a:ext cx="1140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登録完了時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8908375" y="3352825"/>
            <a:ext cx="2137500" cy="141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登録が完了しました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ログイン画面から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ログインして下さい</a:t>
            </a:r>
            <a:endParaRPr/>
          </a:p>
        </p:txBody>
      </p:sp>
      <p:cxnSp>
        <p:nvCxnSpPr>
          <p:cNvPr id="231" name="Google Shape;231;p19"/>
          <p:cNvCxnSpPr>
            <a:stCxn id="230" idx="2"/>
          </p:cNvCxnSpPr>
          <p:nvPr/>
        </p:nvCxnSpPr>
        <p:spPr>
          <a:xfrm flipH="1">
            <a:off x="7463300" y="3351838"/>
            <a:ext cx="903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19"/>
          <p:cNvSpPr txBox="1"/>
          <p:nvPr/>
        </p:nvSpPr>
        <p:spPr>
          <a:xfrm>
            <a:off x="6752725" y="817950"/>
            <a:ext cx="2391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エラー条件：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メールアドレス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・既に登録されている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・@が入っていない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・空欄の場合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・スペースが使われている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パスワード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・規格外の場合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9685813" y="4156063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OK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979150" y="2174575"/>
            <a:ext cx="155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登録完了</a:t>
            </a:r>
            <a:r>
              <a:rPr lang="ja">
                <a:solidFill>
                  <a:schemeClr val="dk1"/>
                </a:solidFill>
              </a:rPr>
              <a:t>を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ポップアップで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出力</a:t>
            </a:r>
            <a:r>
              <a:rPr lang="ja">
                <a:solidFill>
                  <a:schemeClr val="dk1"/>
                </a:solidFill>
              </a:rPr>
              <a:t>する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35" name="Google Shape;235;p19"/>
          <p:cNvCxnSpPr>
            <a:stCxn id="229" idx="0"/>
            <a:endCxn id="234" idx="2"/>
          </p:cNvCxnSpPr>
          <p:nvPr/>
        </p:nvCxnSpPr>
        <p:spPr>
          <a:xfrm rot="10800000">
            <a:off x="9758125" y="3006025"/>
            <a:ext cx="219000" cy="3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19"/>
          <p:cNvSpPr txBox="1"/>
          <p:nvPr/>
        </p:nvSpPr>
        <p:spPr>
          <a:xfrm>
            <a:off x="3794925" y="3967750"/>
            <a:ext cx="1419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エラー発生時</a:t>
            </a:r>
            <a:endParaRPr/>
          </a:p>
        </p:txBody>
      </p:sp>
      <p:cxnSp>
        <p:nvCxnSpPr>
          <p:cNvPr id="237" name="Google Shape;237;p19"/>
          <p:cNvCxnSpPr>
            <a:stCxn id="236" idx="3"/>
          </p:cNvCxnSpPr>
          <p:nvPr/>
        </p:nvCxnSpPr>
        <p:spPr>
          <a:xfrm>
            <a:off x="5214825" y="4176700"/>
            <a:ext cx="215700" cy="12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19"/>
          <p:cNvCxnSpPr>
            <a:stCxn id="232" idx="0"/>
            <a:endCxn id="217" idx="3"/>
          </p:cNvCxnSpPr>
          <p:nvPr/>
        </p:nvCxnSpPr>
        <p:spPr>
          <a:xfrm rot="10800000">
            <a:off x="7153075" y="562350"/>
            <a:ext cx="795300" cy="2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/>
          <p:nvPr/>
        </p:nvSpPr>
        <p:spPr>
          <a:xfrm>
            <a:off x="307450" y="297100"/>
            <a:ext cx="8224500" cy="444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使い方説明画面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説明項目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</a:t>
            </a:r>
            <a:r>
              <a:rPr lang="ja"/>
              <a:t>ユーザー登録方法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・検索の使い方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・画面の見方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・書籍登録の方法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別ウィンドウで立ち上げます。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消すためのボタンを用意します。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APIを利用するときのライセンス表記もこの画面に記載します。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パスワードを忘れたなどの連絡先も記載します。(暫定対応)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601225" y="280125"/>
            <a:ext cx="8338800" cy="455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1991025" y="656800"/>
            <a:ext cx="6195600" cy="41952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2198850" y="916575"/>
            <a:ext cx="5766900" cy="20001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2198850" y="3163600"/>
            <a:ext cx="5766900" cy="16884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760613" y="1170913"/>
            <a:ext cx="1143000" cy="276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77513" y="1235838"/>
            <a:ext cx="857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2198850" y="1228375"/>
            <a:ext cx="389700" cy="16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9類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25885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書名１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29782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書名2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33679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37576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4147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4552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4942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57367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6126451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65161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21"/>
          <p:cNvCxnSpPr>
            <a:stCxn id="266" idx="1"/>
            <a:endCxn id="250" idx="3"/>
          </p:cNvCxnSpPr>
          <p:nvPr/>
        </p:nvCxnSpPr>
        <p:spPr>
          <a:xfrm flipH="1">
            <a:off x="7965625" y="1877725"/>
            <a:ext cx="974400" cy="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 txBox="1"/>
          <p:nvPr/>
        </p:nvSpPr>
        <p:spPr>
          <a:xfrm>
            <a:off x="8940025" y="1527025"/>
            <a:ext cx="18312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仕切り板含めて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1行の</a:t>
            </a:r>
            <a:r>
              <a:rPr lang="ja"/>
              <a:t>タイトルの本が</a:t>
            </a:r>
            <a:r>
              <a:rPr lang="ja"/>
              <a:t>15冊目安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5347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6899988" y="12997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7494150" y="1371175"/>
            <a:ext cx="467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7201946" y="13711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198850" y="3507700"/>
            <a:ext cx="389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4類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25885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3679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29782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4700900" y="3644000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6" name="Google Shape;276;p21"/>
          <p:cNvCxnSpPr>
            <a:stCxn id="277" idx="1"/>
            <a:endCxn id="275" idx="3"/>
          </p:cNvCxnSpPr>
          <p:nvPr/>
        </p:nvCxnSpPr>
        <p:spPr>
          <a:xfrm rot="10800000">
            <a:off x="5090563" y="4248050"/>
            <a:ext cx="1579200" cy="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1"/>
          <p:cNvSpPr txBox="1"/>
          <p:nvPr/>
        </p:nvSpPr>
        <p:spPr>
          <a:xfrm>
            <a:off x="6669763" y="4851350"/>
            <a:ext cx="20001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書籍を追加すると本が増えていく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637375" y="4087125"/>
            <a:ext cx="1337700" cy="546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新規書籍登録</a:t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968438" y="1816488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16488" y="1491763"/>
            <a:ext cx="58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948938" y="2586538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96988" y="2261813"/>
            <a:ext cx="766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1243013" y="3411388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-2008925" y="1636300"/>
            <a:ext cx="21930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書名と著者名で検索可能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部分一致検索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どちらか片方だけでも検索可能</a:t>
            </a:r>
            <a:endParaRPr/>
          </a:p>
        </p:txBody>
      </p:sp>
      <p:cxnSp>
        <p:nvCxnSpPr>
          <p:cNvPr id="285" name="Google Shape;285;p21"/>
          <p:cNvCxnSpPr>
            <a:stCxn id="284" idx="3"/>
            <a:endCxn id="252" idx="1"/>
          </p:cNvCxnSpPr>
          <p:nvPr/>
        </p:nvCxnSpPr>
        <p:spPr>
          <a:xfrm>
            <a:off x="184075" y="1928500"/>
            <a:ext cx="576600" cy="6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1"/>
          <p:cNvSpPr txBox="1"/>
          <p:nvPr/>
        </p:nvSpPr>
        <p:spPr>
          <a:xfrm>
            <a:off x="9150150" y="2422800"/>
            <a:ext cx="1571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本棚のイメージ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本にマウスホバーすると少し上に動く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類の仕切り板は動かない</a:t>
            </a:r>
            <a:endParaRPr/>
          </a:p>
        </p:txBody>
      </p:sp>
      <p:cxnSp>
        <p:nvCxnSpPr>
          <p:cNvPr id="287" name="Google Shape;287;p21"/>
          <p:cNvCxnSpPr>
            <a:stCxn id="286" idx="1"/>
            <a:endCxn id="268" idx="2"/>
          </p:cNvCxnSpPr>
          <p:nvPr/>
        </p:nvCxnSpPr>
        <p:spPr>
          <a:xfrm flipH="1">
            <a:off x="7045950" y="2663100"/>
            <a:ext cx="2104200" cy="1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>
            <a:stCxn id="289" idx="3"/>
            <a:endCxn id="283" idx="1"/>
          </p:cNvCxnSpPr>
          <p:nvPr/>
        </p:nvCxnSpPr>
        <p:spPr>
          <a:xfrm>
            <a:off x="220275" y="3399525"/>
            <a:ext cx="1022700" cy="2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1"/>
          <p:cNvSpPr txBox="1"/>
          <p:nvPr/>
        </p:nvSpPr>
        <p:spPr>
          <a:xfrm>
            <a:off x="-1972725" y="2948175"/>
            <a:ext cx="21930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検索して一致したものが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本棚に残って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検索結果になる</a:t>
            </a:r>
            <a:endParaRPr/>
          </a:p>
        </p:txBody>
      </p:sp>
      <p:cxnSp>
        <p:nvCxnSpPr>
          <p:cNvPr id="290" name="Google Shape;290;p21"/>
          <p:cNvCxnSpPr>
            <a:stCxn id="278" idx="2"/>
            <a:endCxn id="291" idx="0"/>
          </p:cNvCxnSpPr>
          <p:nvPr/>
        </p:nvCxnSpPr>
        <p:spPr>
          <a:xfrm>
            <a:off x="1306225" y="4633125"/>
            <a:ext cx="45600" cy="46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21"/>
          <p:cNvCxnSpPr>
            <a:stCxn id="255" idx="0"/>
            <a:endCxn id="293" idx="1"/>
          </p:cNvCxnSpPr>
          <p:nvPr/>
        </p:nvCxnSpPr>
        <p:spPr>
          <a:xfrm flipH="1" rot="10800000">
            <a:off x="2783400" y="264775"/>
            <a:ext cx="836100" cy="110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1"/>
          <p:cNvSpPr txBox="1"/>
          <p:nvPr/>
        </p:nvSpPr>
        <p:spPr>
          <a:xfrm>
            <a:off x="3619638" y="-8162"/>
            <a:ext cx="3844500" cy="54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本の</a:t>
            </a:r>
            <a:r>
              <a:rPr lang="ja"/>
              <a:t>背表紙をクリックすると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書籍詳細画面に遷移する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54800" y="5102425"/>
            <a:ext cx="2593800" cy="36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書籍情報登録画面に遷移する</a:t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7753950" y="358150"/>
            <a:ext cx="1143000" cy="2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cxnSp>
        <p:nvCxnSpPr>
          <p:cNvPr id="295" name="Google Shape;295;p21"/>
          <p:cNvCxnSpPr>
            <a:stCxn id="294" idx="3"/>
            <a:endCxn id="296" idx="1"/>
          </p:cNvCxnSpPr>
          <p:nvPr/>
        </p:nvCxnSpPr>
        <p:spPr>
          <a:xfrm flipH="1" rot="10800000">
            <a:off x="8896950" y="345400"/>
            <a:ext cx="441900" cy="1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21"/>
          <p:cNvSpPr txBox="1"/>
          <p:nvPr/>
        </p:nvSpPr>
        <p:spPr>
          <a:xfrm>
            <a:off x="9338825" y="32600"/>
            <a:ext cx="1272600" cy="62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cxnSp>
        <p:nvCxnSpPr>
          <p:cNvPr id="297" name="Google Shape;297;p21"/>
          <p:cNvCxnSpPr>
            <a:stCxn id="298" idx="3"/>
            <a:endCxn id="279" idx="1"/>
          </p:cNvCxnSpPr>
          <p:nvPr/>
        </p:nvCxnSpPr>
        <p:spPr>
          <a:xfrm>
            <a:off x="-24800" y="1145175"/>
            <a:ext cx="993300" cy="85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21"/>
          <p:cNvCxnSpPr>
            <a:stCxn id="298" idx="3"/>
            <a:endCxn id="281" idx="1"/>
          </p:cNvCxnSpPr>
          <p:nvPr/>
        </p:nvCxnSpPr>
        <p:spPr>
          <a:xfrm>
            <a:off x="-24800" y="1145175"/>
            <a:ext cx="973800" cy="16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1"/>
          <p:cNvSpPr txBox="1"/>
          <p:nvPr/>
        </p:nvSpPr>
        <p:spPr>
          <a:xfrm>
            <a:off x="-951800" y="840825"/>
            <a:ext cx="927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</a:t>
            </a:r>
            <a:endParaRPr/>
          </a:p>
        </p:txBody>
      </p:sp>
      <p:cxnSp>
        <p:nvCxnSpPr>
          <p:cNvPr id="300" name="Google Shape;300;p21"/>
          <p:cNvCxnSpPr>
            <a:stCxn id="254" idx="0"/>
            <a:endCxn id="301" idx="2"/>
          </p:cNvCxnSpPr>
          <p:nvPr/>
        </p:nvCxnSpPr>
        <p:spPr>
          <a:xfrm rot="10800000">
            <a:off x="2393700" y="124975"/>
            <a:ext cx="0" cy="11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1"/>
          <p:cNvSpPr txBox="1"/>
          <p:nvPr/>
        </p:nvSpPr>
        <p:spPr>
          <a:xfrm>
            <a:off x="6000" y="-619375"/>
            <a:ext cx="47754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NDC(日本十進分類法)の仕切り板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0~9類と不明(NDLがデフォルト値:***.***)がある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該当の類があれば本棚に追加して表示する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09050" y="706824"/>
            <a:ext cx="1337700" cy="40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使い方はこちら</a:t>
            </a:r>
            <a:endParaRPr sz="1200"/>
          </a:p>
        </p:txBody>
      </p:sp>
      <p:sp>
        <p:nvSpPr>
          <p:cNvPr id="303" name="Google Shape;303;p21"/>
          <p:cNvSpPr txBox="1"/>
          <p:nvPr/>
        </p:nvSpPr>
        <p:spPr>
          <a:xfrm>
            <a:off x="-2455025" y="-8150"/>
            <a:ext cx="2260200" cy="740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別ウィンドウで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使い方</a:t>
            </a:r>
            <a:r>
              <a:rPr lang="ja"/>
              <a:t>説明</a:t>
            </a:r>
            <a:r>
              <a:rPr lang="ja"/>
              <a:t>画面を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立ち上げる</a:t>
            </a:r>
            <a:endParaRPr/>
          </a:p>
        </p:txBody>
      </p:sp>
      <p:cxnSp>
        <p:nvCxnSpPr>
          <p:cNvPr id="304" name="Google Shape;304;p21"/>
          <p:cNvCxnSpPr>
            <a:stCxn id="303" idx="3"/>
            <a:endCxn id="302" idx="1"/>
          </p:cNvCxnSpPr>
          <p:nvPr/>
        </p:nvCxnSpPr>
        <p:spPr>
          <a:xfrm>
            <a:off x="-194825" y="362050"/>
            <a:ext cx="804000" cy="5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1"/>
          <p:cNvCxnSpPr>
            <a:stCxn id="306" idx="0"/>
            <a:endCxn id="251" idx="3"/>
          </p:cNvCxnSpPr>
          <p:nvPr/>
        </p:nvCxnSpPr>
        <p:spPr>
          <a:xfrm rot="10800000">
            <a:off x="7965875" y="4007800"/>
            <a:ext cx="193860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1"/>
          <p:cNvSpPr txBox="1"/>
          <p:nvPr/>
        </p:nvSpPr>
        <p:spPr>
          <a:xfrm>
            <a:off x="8728625" y="4223800"/>
            <a:ext cx="235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表示しきれていない部分は本棚のみ下にスクロールすし、検索欄や新規書籍登録ボタンは同じ場所に表示する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-1976325" y="4163750"/>
            <a:ext cx="22002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セッションを使用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接続30分</a:t>
            </a:r>
            <a:endParaRPr/>
          </a:p>
        </p:txBody>
      </p:sp>
      <p:cxnSp>
        <p:nvCxnSpPr>
          <p:cNvPr id="308" name="Google Shape;308;p21"/>
          <p:cNvCxnSpPr>
            <a:stCxn id="309" idx="3"/>
            <a:endCxn id="310" idx="3"/>
          </p:cNvCxnSpPr>
          <p:nvPr/>
        </p:nvCxnSpPr>
        <p:spPr>
          <a:xfrm>
            <a:off x="4690400" y="4248050"/>
            <a:ext cx="241200" cy="12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1"/>
          <p:cNvSpPr txBox="1"/>
          <p:nvPr/>
        </p:nvSpPr>
        <p:spPr>
          <a:xfrm>
            <a:off x="3478313" y="5143499"/>
            <a:ext cx="14532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書名がすべて入りきるように本の厚さを変える</a:t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3768200" y="3644000"/>
            <a:ext cx="9222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あいうえおか</a:t>
            </a:r>
            <a:r>
              <a:rPr lang="ja"/>
              <a:t>き</a:t>
            </a:r>
            <a:r>
              <a:rPr lang="ja"/>
              <a:t>くけこさしすせそたちつてと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3878450" y="-806125"/>
            <a:ext cx="2902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並び順：9類0類1類…8類不明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分類内</a:t>
            </a:r>
            <a:r>
              <a:rPr lang="ja"/>
              <a:t>は</a:t>
            </a:r>
            <a:r>
              <a:rPr lang="ja"/>
              <a:t>書名かな順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同書名</a:t>
            </a:r>
            <a:r>
              <a:rPr lang="ja"/>
              <a:t>は</a:t>
            </a:r>
            <a:r>
              <a:rPr lang="ja"/>
              <a:t>著者かな順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5040488" y="5093350"/>
            <a:ext cx="1520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背表紙は縦書き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＊スライドの仕様上横書き</a:t>
            </a:r>
            <a:endParaRPr/>
          </a:p>
        </p:txBody>
      </p:sp>
      <p:cxnSp>
        <p:nvCxnSpPr>
          <p:cNvPr id="313" name="Google Shape;313;p21"/>
          <p:cNvCxnSpPr>
            <a:stCxn id="309" idx="3"/>
            <a:endCxn id="312" idx="0"/>
          </p:cNvCxnSpPr>
          <p:nvPr/>
        </p:nvCxnSpPr>
        <p:spPr>
          <a:xfrm>
            <a:off x="4690400" y="4248050"/>
            <a:ext cx="1110300" cy="8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601225" y="280125"/>
            <a:ext cx="8338800" cy="455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1991025" y="656800"/>
            <a:ext cx="6195600" cy="41952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2198850" y="916575"/>
            <a:ext cx="5766900" cy="20001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2198850" y="3163600"/>
            <a:ext cx="5766900" cy="16884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744100" y="864625"/>
            <a:ext cx="1143000" cy="276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861000" y="929550"/>
            <a:ext cx="857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2198850" y="1228375"/>
            <a:ext cx="389700" cy="16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9類</a:t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25885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書名１</a:t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29782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書名2</a:t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33679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37576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4147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4552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4942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57367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6126451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65161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5347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6899988" y="12997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7494150" y="1371175"/>
            <a:ext cx="467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7201946" y="13711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2198850" y="3507700"/>
            <a:ext cx="389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4類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25885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33679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29782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37576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874000" y="3965050"/>
            <a:ext cx="935100" cy="766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追加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951925" y="151020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899975" y="1185475"/>
            <a:ext cx="58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</a:t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932425" y="228025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880475" y="1955525"/>
            <a:ext cx="766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1226500" y="3105100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1393600" y="786450"/>
            <a:ext cx="6909900" cy="357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書籍情報登録画面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-2269250" y="760700"/>
            <a:ext cx="2452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書籍一覧画面にかぶさる形で画面が開く</a:t>
            </a:r>
            <a:endParaRPr/>
          </a:p>
        </p:txBody>
      </p:sp>
      <p:cxnSp>
        <p:nvCxnSpPr>
          <p:cNvPr id="352" name="Google Shape;352;p22"/>
          <p:cNvCxnSpPr>
            <a:stCxn id="351" idx="3"/>
            <a:endCxn id="350" idx="1"/>
          </p:cNvCxnSpPr>
          <p:nvPr/>
        </p:nvCxnSpPr>
        <p:spPr>
          <a:xfrm>
            <a:off x="183550" y="1202300"/>
            <a:ext cx="1210200" cy="13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2"/>
          <p:cNvSpPr/>
          <p:nvPr/>
        </p:nvSpPr>
        <p:spPr>
          <a:xfrm>
            <a:off x="1733600" y="1228375"/>
            <a:ext cx="993600" cy="10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書影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3087525" y="12023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書名</a:t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3087525" y="1732875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著者名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3087525" y="23062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出版社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5649600" y="23062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出版年月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5619200" y="30284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税抜価格</a:t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2547300" y="3028438"/>
            <a:ext cx="15306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ページ数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4207900" y="3028475"/>
            <a:ext cx="12813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大きさ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5649600" y="1202300"/>
            <a:ext cx="18447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ISBN</a:t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5649600" y="17328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NDC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7433100" y="3728425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7557498" y="1245500"/>
            <a:ext cx="582600" cy="324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入力</a:t>
            </a:r>
            <a:endParaRPr/>
          </a:p>
        </p:txBody>
      </p:sp>
      <p:cxnSp>
        <p:nvCxnSpPr>
          <p:cNvPr id="365" name="Google Shape;365;p22"/>
          <p:cNvCxnSpPr>
            <a:stCxn id="366" idx="1"/>
            <a:endCxn id="361" idx="3"/>
          </p:cNvCxnSpPr>
          <p:nvPr/>
        </p:nvCxnSpPr>
        <p:spPr>
          <a:xfrm rot="10800000">
            <a:off x="7494225" y="1385950"/>
            <a:ext cx="15756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22"/>
          <p:cNvSpPr txBox="1"/>
          <p:nvPr/>
        </p:nvSpPr>
        <p:spPr>
          <a:xfrm>
            <a:off x="9069825" y="1293250"/>
            <a:ext cx="25371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テキストボックスで入力可能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書名・著者名は入力必須</a:t>
            </a:r>
            <a:endParaRPr/>
          </a:p>
        </p:txBody>
      </p:sp>
      <p:cxnSp>
        <p:nvCxnSpPr>
          <p:cNvPr id="367" name="Google Shape;367;p22"/>
          <p:cNvCxnSpPr>
            <a:stCxn id="363" idx="2"/>
            <a:endCxn id="368" idx="1"/>
          </p:cNvCxnSpPr>
          <p:nvPr/>
        </p:nvCxnSpPr>
        <p:spPr>
          <a:xfrm flipH="1" rot="10800000">
            <a:off x="7780200" y="4128625"/>
            <a:ext cx="1410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22"/>
          <p:cNvSpPr txBox="1"/>
          <p:nvPr/>
        </p:nvSpPr>
        <p:spPr>
          <a:xfrm>
            <a:off x="8420850" y="5113800"/>
            <a:ext cx="1449600" cy="56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cxnSp>
        <p:nvCxnSpPr>
          <p:cNvPr id="370" name="Google Shape;370;p22"/>
          <p:cNvCxnSpPr>
            <a:stCxn id="366" idx="1"/>
            <a:endCxn id="362" idx="3"/>
          </p:cNvCxnSpPr>
          <p:nvPr/>
        </p:nvCxnSpPr>
        <p:spPr>
          <a:xfrm flipH="1">
            <a:off x="8186625" y="1624450"/>
            <a:ext cx="883200" cy="2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2"/>
          <p:cNvCxnSpPr>
            <a:stCxn id="366" idx="1"/>
            <a:endCxn id="354" idx="3"/>
          </p:cNvCxnSpPr>
          <p:nvPr/>
        </p:nvCxnSpPr>
        <p:spPr>
          <a:xfrm rot="10800000">
            <a:off x="5540325" y="1385950"/>
            <a:ext cx="35295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2"/>
          <p:cNvCxnSpPr>
            <a:stCxn id="366" idx="1"/>
            <a:endCxn id="355" idx="3"/>
          </p:cNvCxnSpPr>
          <p:nvPr/>
        </p:nvCxnSpPr>
        <p:spPr>
          <a:xfrm flipH="1">
            <a:off x="5540325" y="1624450"/>
            <a:ext cx="3529500" cy="2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2"/>
          <p:cNvCxnSpPr>
            <a:stCxn id="374" idx="1"/>
            <a:endCxn id="361" idx="0"/>
          </p:cNvCxnSpPr>
          <p:nvPr/>
        </p:nvCxnSpPr>
        <p:spPr>
          <a:xfrm flipH="1">
            <a:off x="6572000" y="637300"/>
            <a:ext cx="2757600" cy="5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2"/>
          <p:cNvSpPr txBox="1"/>
          <p:nvPr/>
        </p:nvSpPr>
        <p:spPr>
          <a:xfrm>
            <a:off x="9329600" y="306100"/>
            <a:ext cx="19161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ISBNを</a:t>
            </a:r>
            <a:r>
              <a:rPr lang="ja"/>
              <a:t>入力して入力ボタンを押すと、ほかの欄は自動で入力される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9095563" y="2051250"/>
            <a:ext cx="23367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重複確認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必要情報記入漏れ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などのエラーメッセージをポップアップで出力</a:t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7753950" y="358150"/>
            <a:ext cx="1143000" cy="2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1646975" y="3728425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</a:t>
            </a:r>
            <a:endParaRPr/>
          </a:p>
        </p:txBody>
      </p:sp>
      <p:cxnSp>
        <p:nvCxnSpPr>
          <p:cNvPr id="378" name="Google Shape;378;p22"/>
          <p:cNvCxnSpPr>
            <a:stCxn id="368" idx="3"/>
            <a:endCxn id="375" idx="3"/>
          </p:cNvCxnSpPr>
          <p:nvPr/>
        </p:nvCxnSpPr>
        <p:spPr>
          <a:xfrm rot="10800000">
            <a:off x="11432213" y="2520438"/>
            <a:ext cx="211500" cy="1608300"/>
          </a:xfrm>
          <a:prstGeom prst="bentConnector3">
            <a:avLst>
              <a:gd fmla="val -1125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2"/>
          <p:cNvCxnSpPr>
            <a:stCxn id="377" idx="2"/>
            <a:endCxn id="380" idx="0"/>
          </p:cNvCxnSpPr>
          <p:nvPr/>
        </p:nvCxnSpPr>
        <p:spPr>
          <a:xfrm>
            <a:off x="1994075" y="4131025"/>
            <a:ext cx="399600" cy="73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22"/>
          <p:cNvSpPr txBox="1"/>
          <p:nvPr/>
        </p:nvSpPr>
        <p:spPr>
          <a:xfrm>
            <a:off x="1682550" y="4868125"/>
            <a:ext cx="1422300" cy="56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</a:t>
            </a:r>
            <a:r>
              <a:rPr lang="ja"/>
              <a:t>一覧</a:t>
            </a:r>
            <a:r>
              <a:rPr lang="ja"/>
              <a:t>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9248963" y="3634600"/>
            <a:ext cx="2336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9190913" y="3745638"/>
            <a:ext cx="24528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重複しています。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2冊目として登録しますか？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82" name="Google Shape;382;p22"/>
          <p:cNvCxnSpPr>
            <a:stCxn id="383" idx="2"/>
            <a:endCxn id="369" idx="0"/>
          </p:cNvCxnSpPr>
          <p:nvPr/>
        </p:nvCxnSpPr>
        <p:spPr>
          <a:xfrm flipH="1">
            <a:off x="9145775" y="4816900"/>
            <a:ext cx="1897200" cy="2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22"/>
          <p:cNvSpPr/>
          <p:nvPr/>
        </p:nvSpPr>
        <p:spPr>
          <a:xfrm>
            <a:off x="10695875" y="4414300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9398900" y="4414300"/>
            <a:ext cx="8574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いいえ</a:t>
            </a:r>
            <a:endParaRPr/>
          </a:p>
        </p:txBody>
      </p:sp>
      <p:cxnSp>
        <p:nvCxnSpPr>
          <p:cNvPr id="385" name="Google Shape;385;p22"/>
          <p:cNvCxnSpPr>
            <a:stCxn id="363" idx="2"/>
            <a:endCxn id="369" idx="0"/>
          </p:cNvCxnSpPr>
          <p:nvPr/>
        </p:nvCxnSpPr>
        <p:spPr>
          <a:xfrm>
            <a:off x="7780200" y="4131025"/>
            <a:ext cx="1365600" cy="9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22"/>
          <p:cNvSpPr txBox="1"/>
          <p:nvPr/>
        </p:nvSpPr>
        <p:spPr>
          <a:xfrm>
            <a:off x="7139550" y="4854650"/>
            <a:ext cx="1281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問題なければ</a:t>
            </a:r>
            <a:endParaRPr/>
          </a:p>
        </p:txBody>
      </p:sp>
      <p:cxnSp>
        <p:nvCxnSpPr>
          <p:cNvPr id="387" name="Google Shape;387;p22"/>
          <p:cNvCxnSpPr>
            <a:stCxn id="386" idx="3"/>
          </p:cNvCxnSpPr>
          <p:nvPr/>
        </p:nvCxnSpPr>
        <p:spPr>
          <a:xfrm flipH="1" rot="10800000">
            <a:off x="8420850" y="4671050"/>
            <a:ext cx="8970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22"/>
          <p:cNvSpPr txBox="1"/>
          <p:nvPr/>
        </p:nvSpPr>
        <p:spPr>
          <a:xfrm>
            <a:off x="-2026375" y="2571800"/>
            <a:ext cx="1916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ISBNからの自動入力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手入力不可</a:t>
            </a:r>
            <a:endParaRPr/>
          </a:p>
        </p:txBody>
      </p:sp>
      <p:cxnSp>
        <p:nvCxnSpPr>
          <p:cNvPr id="389" name="Google Shape;389;p22"/>
          <p:cNvCxnSpPr>
            <a:stCxn id="388" idx="3"/>
            <a:endCxn id="356" idx="1"/>
          </p:cNvCxnSpPr>
          <p:nvPr/>
        </p:nvCxnSpPr>
        <p:spPr>
          <a:xfrm flipH="1" rot="10800000">
            <a:off x="-110275" y="2489900"/>
            <a:ext cx="3197700" cy="4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22"/>
          <p:cNvCxnSpPr>
            <a:stCxn id="388" idx="3"/>
            <a:endCxn id="357" idx="1"/>
          </p:cNvCxnSpPr>
          <p:nvPr/>
        </p:nvCxnSpPr>
        <p:spPr>
          <a:xfrm flipH="1" rot="10800000">
            <a:off x="-110275" y="2489900"/>
            <a:ext cx="5760000" cy="4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2"/>
          <p:cNvCxnSpPr>
            <a:stCxn id="388" idx="3"/>
            <a:endCxn id="359" idx="1"/>
          </p:cNvCxnSpPr>
          <p:nvPr/>
        </p:nvCxnSpPr>
        <p:spPr>
          <a:xfrm>
            <a:off x="-110275" y="2954900"/>
            <a:ext cx="2657700" cy="2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22"/>
          <p:cNvCxnSpPr>
            <a:stCxn id="388" idx="3"/>
            <a:endCxn id="360" idx="1"/>
          </p:cNvCxnSpPr>
          <p:nvPr/>
        </p:nvCxnSpPr>
        <p:spPr>
          <a:xfrm>
            <a:off x="-110275" y="2954900"/>
            <a:ext cx="4318200" cy="2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2"/>
          <p:cNvCxnSpPr>
            <a:stCxn id="388" idx="3"/>
            <a:endCxn id="358" idx="1"/>
          </p:cNvCxnSpPr>
          <p:nvPr/>
        </p:nvCxnSpPr>
        <p:spPr>
          <a:xfrm>
            <a:off x="-110275" y="2954900"/>
            <a:ext cx="5729400" cy="2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2"/>
          <p:cNvSpPr txBox="1"/>
          <p:nvPr/>
        </p:nvSpPr>
        <p:spPr>
          <a:xfrm>
            <a:off x="11587800" y="1000525"/>
            <a:ext cx="24528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エラー条件：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ISBNの重複登録：登録可能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(ISBNが初期値の時</a:t>
            </a:r>
            <a:r>
              <a:rPr lang="ja"/>
              <a:t>はエラーにしない</a:t>
            </a:r>
            <a:r>
              <a:rPr lang="ja"/>
              <a:t>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書名が空欄</a:t>
            </a:r>
            <a:r>
              <a:rPr lang="ja">
                <a:solidFill>
                  <a:schemeClr val="dk1"/>
                </a:solidFill>
              </a:rPr>
              <a:t>：登録不可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著者名が空欄：登録不可</a:t>
            </a:r>
            <a:endParaRPr/>
          </a:p>
        </p:txBody>
      </p:sp>
      <p:cxnSp>
        <p:nvCxnSpPr>
          <p:cNvPr id="395" name="Google Shape;395;p22"/>
          <p:cNvCxnSpPr>
            <a:stCxn id="394" idx="1"/>
          </p:cNvCxnSpPr>
          <p:nvPr/>
        </p:nvCxnSpPr>
        <p:spPr>
          <a:xfrm>
            <a:off x="11587800" y="17733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22"/>
          <p:cNvCxnSpPr>
            <a:stCxn id="394" idx="1"/>
            <a:endCxn id="375" idx="0"/>
          </p:cNvCxnSpPr>
          <p:nvPr/>
        </p:nvCxnSpPr>
        <p:spPr>
          <a:xfrm flipH="1">
            <a:off x="10263900" y="1773325"/>
            <a:ext cx="1323900" cy="27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22"/>
          <p:cNvCxnSpPr>
            <a:stCxn id="398" idx="3"/>
            <a:endCxn id="353" idx="1"/>
          </p:cNvCxnSpPr>
          <p:nvPr/>
        </p:nvCxnSpPr>
        <p:spPr>
          <a:xfrm>
            <a:off x="50350" y="374800"/>
            <a:ext cx="1683300" cy="13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22"/>
          <p:cNvSpPr txBox="1"/>
          <p:nvPr/>
        </p:nvSpPr>
        <p:spPr>
          <a:xfrm>
            <a:off x="-2136050" y="92350"/>
            <a:ext cx="21864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書影がないときはデフォルトの画像を表示する</a:t>
            </a:r>
            <a:endParaRPr/>
          </a:p>
        </p:txBody>
      </p:sp>
      <p:cxnSp>
        <p:nvCxnSpPr>
          <p:cNvPr id="399" name="Google Shape;399;p22"/>
          <p:cNvCxnSpPr>
            <a:stCxn id="388" idx="3"/>
            <a:endCxn id="353" idx="2"/>
          </p:cNvCxnSpPr>
          <p:nvPr/>
        </p:nvCxnSpPr>
        <p:spPr>
          <a:xfrm flipH="1" rot="10800000">
            <a:off x="-110275" y="2318300"/>
            <a:ext cx="2340600" cy="63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2"/>
          <p:cNvCxnSpPr>
            <a:stCxn id="401" idx="2"/>
            <a:endCxn id="354" idx="0"/>
          </p:cNvCxnSpPr>
          <p:nvPr/>
        </p:nvCxnSpPr>
        <p:spPr>
          <a:xfrm>
            <a:off x="3348700" y="230725"/>
            <a:ext cx="965100" cy="9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22"/>
          <p:cNvSpPr txBox="1"/>
          <p:nvPr/>
        </p:nvSpPr>
        <p:spPr>
          <a:xfrm>
            <a:off x="1953700" y="-707375"/>
            <a:ext cx="279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実際の画面では、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　　　　　　　　　　　　　　のように表示する</a:t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2080150" y="-163175"/>
            <a:ext cx="2537100" cy="17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</a:t>
            </a:r>
            <a:endParaRPr/>
          </a:p>
        </p:txBody>
      </p:sp>
      <p:cxnSp>
        <p:nvCxnSpPr>
          <p:cNvPr id="403" name="Google Shape;403;p22"/>
          <p:cNvCxnSpPr>
            <a:stCxn id="364" idx="0"/>
            <a:endCxn id="374" idx="1"/>
          </p:cNvCxnSpPr>
          <p:nvPr/>
        </p:nvCxnSpPr>
        <p:spPr>
          <a:xfrm flipH="1" rot="10800000">
            <a:off x="7848798" y="637400"/>
            <a:ext cx="1480800" cy="6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22"/>
          <p:cNvSpPr/>
          <p:nvPr/>
        </p:nvSpPr>
        <p:spPr>
          <a:xfrm>
            <a:off x="12002113" y="3634600"/>
            <a:ext cx="2336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12126963" y="3798050"/>
            <a:ext cx="24528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登録できません。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書名が空欄です。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12705075" y="4400238"/>
            <a:ext cx="8574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はい</a:t>
            </a:r>
            <a:endParaRPr/>
          </a:p>
        </p:txBody>
      </p:sp>
      <p:cxnSp>
        <p:nvCxnSpPr>
          <p:cNvPr id="407" name="Google Shape;407;p22"/>
          <p:cNvCxnSpPr>
            <a:stCxn id="375" idx="3"/>
            <a:endCxn id="404" idx="0"/>
          </p:cNvCxnSpPr>
          <p:nvPr/>
        </p:nvCxnSpPr>
        <p:spPr>
          <a:xfrm>
            <a:off x="11432263" y="2520300"/>
            <a:ext cx="1738200" cy="111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2"/>
          <p:cNvSpPr txBox="1"/>
          <p:nvPr/>
        </p:nvSpPr>
        <p:spPr>
          <a:xfrm>
            <a:off x="11912888" y="3031075"/>
            <a:ext cx="1143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登録不可の場合</a:t>
            </a:r>
            <a:endParaRPr/>
          </a:p>
        </p:txBody>
      </p:sp>
      <p:cxnSp>
        <p:nvCxnSpPr>
          <p:cNvPr id="409" name="Google Shape;409;p22"/>
          <p:cNvCxnSpPr>
            <a:stCxn id="408" idx="2"/>
            <a:endCxn id="404" idx="0"/>
          </p:cNvCxnSpPr>
          <p:nvPr/>
        </p:nvCxnSpPr>
        <p:spPr>
          <a:xfrm>
            <a:off x="12484388" y="3433675"/>
            <a:ext cx="686100" cy="2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2"/>
          <p:cNvSpPr txBox="1"/>
          <p:nvPr/>
        </p:nvSpPr>
        <p:spPr>
          <a:xfrm>
            <a:off x="9144913" y="3084950"/>
            <a:ext cx="11430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重複登録</a:t>
            </a:r>
            <a:r>
              <a:rPr lang="ja"/>
              <a:t>の場合</a:t>
            </a:r>
            <a:endParaRPr/>
          </a:p>
        </p:txBody>
      </p:sp>
      <p:cxnSp>
        <p:nvCxnSpPr>
          <p:cNvPr id="411" name="Google Shape;411;p22"/>
          <p:cNvCxnSpPr>
            <a:stCxn id="410" idx="3"/>
            <a:endCxn id="381" idx="0"/>
          </p:cNvCxnSpPr>
          <p:nvPr/>
        </p:nvCxnSpPr>
        <p:spPr>
          <a:xfrm>
            <a:off x="10287913" y="3316550"/>
            <a:ext cx="129300" cy="3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/>
          <p:nvPr/>
        </p:nvSpPr>
        <p:spPr>
          <a:xfrm>
            <a:off x="601225" y="280125"/>
            <a:ext cx="8338800" cy="455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1991025" y="656800"/>
            <a:ext cx="6195600" cy="41952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2198850" y="916575"/>
            <a:ext cx="5766900" cy="20001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2198850" y="3163600"/>
            <a:ext cx="5766900" cy="16884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744100" y="864625"/>
            <a:ext cx="1143000" cy="276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3"/>
          <p:cNvSpPr txBox="1"/>
          <p:nvPr/>
        </p:nvSpPr>
        <p:spPr>
          <a:xfrm>
            <a:off x="861000" y="929550"/>
            <a:ext cx="857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2198850" y="1228375"/>
            <a:ext cx="389700" cy="16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9類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25885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書名１</a:t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29782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書名2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33679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37576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4147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4552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4942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3"/>
          <p:cNvSpPr/>
          <p:nvPr/>
        </p:nvSpPr>
        <p:spPr>
          <a:xfrm>
            <a:off x="57367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6126451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65161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5347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6899988" y="12997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7494150" y="1371175"/>
            <a:ext cx="467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7201946" y="13711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2198850" y="3507700"/>
            <a:ext cx="389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4類</a:t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25885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33679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29782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37576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874000" y="3965050"/>
            <a:ext cx="935100" cy="766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追加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51925" y="151020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899975" y="1185475"/>
            <a:ext cx="58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</a:t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932425" y="228025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880475" y="1955525"/>
            <a:ext cx="766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1226500" y="3105100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1393600" y="786450"/>
            <a:ext cx="6909900" cy="357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書籍情報更新画面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-948925" y="786450"/>
            <a:ext cx="15306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かぶさる形で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画面が開く</a:t>
            </a:r>
            <a:endParaRPr/>
          </a:p>
        </p:txBody>
      </p:sp>
      <p:cxnSp>
        <p:nvCxnSpPr>
          <p:cNvPr id="450" name="Google Shape;450;p23"/>
          <p:cNvCxnSpPr>
            <a:stCxn id="449" idx="3"/>
            <a:endCxn id="448" idx="1"/>
          </p:cNvCxnSpPr>
          <p:nvPr/>
        </p:nvCxnSpPr>
        <p:spPr>
          <a:xfrm>
            <a:off x="581675" y="1228050"/>
            <a:ext cx="811800" cy="13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23"/>
          <p:cNvSpPr/>
          <p:nvPr/>
        </p:nvSpPr>
        <p:spPr>
          <a:xfrm>
            <a:off x="1733600" y="1228375"/>
            <a:ext cx="993600" cy="10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書影</a:t>
            </a: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3087525" y="12023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書名</a:t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3087525" y="1732875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著者名</a:t>
            </a: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3087525" y="23062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出版社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5649600" y="23062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出版年月</a:t>
            </a:r>
            <a:endParaRPr/>
          </a:p>
        </p:txBody>
      </p:sp>
      <p:sp>
        <p:nvSpPr>
          <p:cNvPr id="456" name="Google Shape;456;p23"/>
          <p:cNvSpPr/>
          <p:nvPr/>
        </p:nvSpPr>
        <p:spPr>
          <a:xfrm>
            <a:off x="5619200" y="30284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税抜価格</a:t>
            </a:r>
            <a:endParaRPr/>
          </a:p>
        </p:txBody>
      </p:sp>
      <p:sp>
        <p:nvSpPr>
          <p:cNvPr id="457" name="Google Shape;457;p23"/>
          <p:cNvSpPr/>
          <p:nvPr/>
        </p:nvSpPr>
        <p:spPr>
          <a:xfrm>
            <a:off x="2547300" y="3028438"/>
            <a:ext cx="15306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ページ数</a:t>
            </a: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4207900" y="3028475"/>
            <a:ext cx="12813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大きさ</a:t>
            </a:r>
            <a:endParaRPr/>
          </a:p>
        </p:txBody>
      </p:sp>
      <p:sp>
        <p:nvSpPr>
          <p:cNvPr id="459" name="Google Shape;459;p23"/>
          <p:cNvSpPr/>
          <p:nvPr/>
        </p:nvSpPr>
        <p:spPr>
          <a:xfrm>
            <a:off x="5649600" y="12023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ISBN</a:t>
            </a: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5649600" y="17328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NDC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7213800" y="3728425"/>
            <a:ext cx="9135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更新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8959575" y="358150"/>
            <a:ext cx="2800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テキストボックスで入力可能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書名・著者名は入力必須</a:t>
            </a:r>
            <a:endParaRPr/>
          </a:p>
        </p:txBody>
      </p:sp>
      <p:cxnSp>
        <p:nvCxnSpPr>
          <p:cNvPr id="463" name="Google Shape;463;p23"/>
          <p:cNvCxnSpPr>
            <a:stCxn id="461" idx="2"/>
            <a:endCxn id="464" idx="0"/>
          </p:cNvCxnSpPr>
          <p:nvPr/>
        </p:nvCxnSpPr>
        <p:spPr>
          <a:xfrm flipH="1">
            <a:off x="7621650" y="4131025"/>
            <a:ext cx="48900" cy="10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23"/>
          <p:cNvSpPr txBox="1"/>
          <p:nvPr/>
        </p:nvSpPr>
        <p:spPr>
          <a:xfrm>
            <a:off x="6980850" y="5143500"/>
            <a:ext cx="1281300" cy="66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</a:t>
            </a:r>
            <a:r>
              <a:rPr lang="ja"/>
              <a:t>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cxnSp>
        <p:nvCxnSpPr>
          <p:cNvPr id="465" name="Google Shape;465;p23"/>
          <p:cNvCxnSpPr>
            <a:stCxn id="462" idx="1"/>
            <a:endCxn id="460" idx="3"/>
          </p:cNvCxnSpPr>
          <p:nvPr/>
        </p:nvCxnSpPr>
        <p:spPr>
          <a:xfrm flipH="1">
            <a:off x="8186775" y="689350"/>
            <a:ext cx="772800" cy="12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3"/>
          <p:cNvCxnSpPr>
            <a:stCxn id="462" idx="1"/>
            <a:endCxn id="452" idx="3"/>
          </p:cNvCxnSpPr>
          <p:nvPr/>
        </p:nvCxnSpPr>
        <p:spPr>
          <a:xfrm flipH="1">
            <a:off x="5540475" y="689350"/>
            <a:ext cx="3419100" cy="69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3"/>
          <p:cNvCxnSpPr>
            <a:stCxn id="462" idx="1"/>
            <a:endCxn id="453" idx="3"/>
          </p:cNvCxnSpPr>
          <p:nvPr/>
        </p:nvCxnSpPr>
        <p:spPr>
          <a:xfrm flipH="1">
            <a:off x="5540475" y="689350"/>
            <a:ext cx="3419100" cy="12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3"/>
          <p:cNvSpPr/>
          <p:nvPr/>
        </p:nvSpPr>
        <p:spPr>
          <a:xfrm>
            <a:off x="7753950" y="358150"/>
            <a:ext cx="1143000" cy="2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1646975" y="3728425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</a:t>
            </a:r>
            <a:endParaRPr/>
          </a:p>
        </p:txBody>
      </p:sp>
      <p:cxnSp>
        <p:nvCxnSpPr>
          <p:cNvPr id="470" name="Google Shape;470;p23"/>
          <p:cNvCxnSpPr>
            <a:stCxn id="469" idx="2"/>
            <a:endCxn id="471" idx="0"/>
          </p:cNvCxnSpPr>
          <p:nvPr/>
        </p:nvCxnSpPr>
        <p:spPr>
          <a:xfrm>
            <a:off x="1994075" y="4131025"/>
            <a:ext cx="39960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23"/>
          <p:cNvSpPr txBox="1"/>
          <p:nvPr/>
        </p:nvSpPr>
        <p:spPr>
          <a:xfrm>
            <a:off x="1682550" y="4969825"/>
            <a:ext cx="1422300" cy="5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-895275" y="3049000"/>
            <a:ext cx="1143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編集不可</a:t>
            </a:r>
            <a:endParaRPr/>
          </a:p>
        </p:txBody>
      </p:sp>
      <p:cxnSp>
        <p:nvCxnSpPr>
          <p:cNvPr id="473" name="Google Shape;473;p23"/>
          <p:cNvCxnSpPr>
            <a:stCxn id="472" idx="3"/>
            <a:endCxn id="454" idx="1"/>
          </p:cNvCxnSpPr>
          <p:nvPr/>
        </p:nvCxnSpPr>
        <p:spPr>
          <a:xfrm flipH="1" rot="10800000">
            <a:off x="247725" y="2490100"/>
            <a:ext cx="2839800" cy="8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23"/>
          <p:cNvCxnSpPr>
            <a:stCxn id="472" idx="3"/>
            <a:endCxn id="455" idx="1"/>
          </p:cNvCxnSpPr>
          <p:nvPr/>
        </p:nvCxnSpPr>
        <p:spPr>
          <a:xfrm flipH="1" rot="10800000">
            <a:off x="247725" y="2490100"/>
            <a:ext cx="5401800" cy="8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23"/>
          <p:cNvCxnSpPr>
            <a:stCxn id="472" idx="3"/>
            <a:endCxn id="457" idx="1"/>
          </p:cNvCxnSpPr>
          <p:nvPr/>
        </p:nvCxnSpPr>
        <p:spPr>
          <a:xfrm flipH="1" rot="10800000">
            <a:off x="247725" y="3212200"/>
            <a:ext cx="2299500" cy="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23"/>
          <p:cNvCxnSpPr>
            <a:stCxn id="472" idx="3"/>
            <a:endCxn id="458" idx="1"/>
          </p:cNvCxnSpPr>
          <p:nvPr/>
        </p:nvCxnSpPr>
        <p:spPr>
          <a:xfrm flipH="1" rot="10800000">
            <a:off x="247725" y="3212200"/>
            <a:ext cx="3960300" cy="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23"/>
          <p:cNvCxnSpPr>
            <a:stCxn id="472" idx="3"/>
            <a:endCxn id="456" idx="1"/>
          </p:cNvCxnSpPr>
          <p:nvPr/>
        </p:nvCxnSpPr>
        <p:spPr>
          <a:xfrm flipH="1" rot="10800000">
            <a:off x="247725" y="3212200"/>
            <a:ext cx="5371500" cy="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3"/>
          <p:cNvCxnSpPr>
            <a:stCxn id="472" idx="3"/>
            <a:endCxn id="459" idx="1"/>
          </p:cNvCxnSpPr>
          <p:nvPr/>
        </p:nvCxnSpPr>
        <p:spPr>
          <a:xfrm flipH="1" rot="10800000">
            <a:off x="247725" y="1386100"/>
            <a:ext cx="5401800" cy="19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23"/>
          <p:cNvSpPr txBox="1"/>
          <p:nvPr/>
        </p:nvSpPr>
        <p:spPr>
          <a:xfrm>
            <a:off x="9180600" y="1471400"/>
            <a:ext cx="14223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エラー条件：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書名が空欄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著者名が空欄</a:t>
            </a:r>
            <a:endParaRPr/>
          </a:p>
        </p:txBody>
      </p:sp>
      <p:sp>
        <p:nvSpPr>
          <p:cNvPr id="480" name="Google Shape;480;p23"/>
          <p:cNvSpPr txBox="1"/>
          <p:nvPr/>
        </p:nvSpPr>
        <p:spPr>
          <a:xfrm>
            <a:off x="9155775" y="2471775"/>
            <a:ext cx="22437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必要情報記入漏れ</a:t>
            </a:r>
            <a:r>
              <a:rPr lang="ja"/>
              <a:t>のとき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エラーメッセージを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ポップアップで出力</a:t>
            </a:r>
            <a:r>
              <a:rPr lang="ja"/>
              <a:t>する</a:t>
            </a:r>
            <a:endParaRPr/>
          </a:p>
        </p:txBody>
      </p:sp>
      <p:cxnSp>
        <p:nvCxnSpPr>
          <p:cNvPr id="481" name="Google Shape;481;p23"/>
          <p:cNvCxnSpPr>
            <a:stCxn id="480" idx="2"/>
            <a:endCxn id="482" idx="0"/>
          </p:cNvCxnSpPr>
          <p:nvPr/>
        </p:nvCxnSpPr>
        <p:spPr>
          <a:xfrm>
            <a:off x="10277625" y="3409875"/>
            <a:ext cx="81900" cy="2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3"/>
          <p:cNvCxnSpPr>
            <a:stCxn id="480" idx="0"/>
            <a:endCxn id="480" idx="0"/>
          </p:cNvCxnSpPr>
          <p:nvPr/>
        </p:nvCxnSpPr>
        <p:spPr>
          <a:xfrm>
            <a:off x="10277625" y="24717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3"/>
          <p:cNvCxnSpPr>
            <a:stCxn id="479" idx="2"/>
            <a:endCxn id="480" idx="0"/>
          </p:cNvCxnSpPr>
          <p:nvPr/>
        </p:nvCxnSpPr>
        <p:spPr>
          <a:xfrm>
            <a:off x="9891750" y="2354600"/>
            <a:ext cx="385800" cy="1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3"/>
          <p:cNvCxnSpPr>
            <a:stCxn id="461" idx="3"/>
            <a:endCxn id="482" idx="1"/>
          </p:cNvCxnSpPr>
          <p:nvPr/>
        </p:nvCxnSpPr>
        <p:spPr>
          <a:xfrm>
            <a:off x="8127300" y="3929725"/>
            <a:ext cx="1064100" cy="4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23"/>
          <p:cNvSpPr/>
          <p:nvPr/>
        </p:nvSpPr>
        <p:spPr>
          <a:xfrm>
            <a:off x="9191313" y="3682300"/>
            <a:ext cx="2336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 txBox="1"/>
          <p:nvPr/>
        </p:nvSpPr>
        <p:spPr>
          <a:xfrm>
            <a:off x="9352638" y="3965038"/>
            <a:ext cx="24528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登録できません。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書名が空欄です。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9930750" y="4567225"/>
            <a:ext cx="8574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はい</a:t>
            </a:r>
            <a:endParaRPr/>
          </a:p>
        </p:txBody>
      </p:sp>
      <p:cxnSp>
        <p:nvCxnSpPr>
          <p:cNvPr id="488" name="Google Shape;488;p23"/>
          <p:cNvCxnSpPr>
            <a:stCxn id="489" idx="2"/>
            <a:endCxn id="452" idx="0"/>
          </p:cNvCxnSpPr>
          <p:nvPr/>
        </p:nvCxnSpPr>
        <p:spPr>
          <a:xfrm>
            <a:off x="3348700" y="58825"/>
            <a:ext cx="965100" cy="11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3"/>
          <p:cNvSpPr txBox="1"/>
          <p:nvPr/>
        </p:nvSpPr>
        <p:spPr>
          <a:xfrm>
            <a:off x="1953700" y="-707375"/>
            <a:ext cx="27900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実際の画面では、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　　　　　　　　　　　　　　のように</a:t>
            </a:r>
            <a:r>
              <a:rPr lang="ja"/>
              <a:t>表示</a:t>
            </a:r>
            <a:r>
              <a:rPr lang="ja"/>
              <a:t>する</a:t>
            </a:r>
            <a:endParaRPr/>
          </a:p>
        </p:txBody>
      </p:sp>
      <p:sp>
        <p:nvSpPr>
          <p:cNvPr id="490" name="Google Shape;490;p23"/>
          <p:cNvSpPr/>
          <p:nvPr/>
        </p:nvSpPr>
        <p:spPr>
          <a:xfrm>
            <a:off x="2080150" y="-163175"/>
            <a:ext cx="2537100" cy="17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テキストボックス</a:t>
            </a:r>
            <a:endParaRPr/>
          </a:p>
        </p:txBody>
      </p:sp>
      <p:cxnSp>
        <p:nvCxnSpPr>
          <p:cNvPr id="491" name="Google Shape;491;p23"/>
          <p:cNvCxnSpPr>
            <a:stCxn id="480" idx="0"/>
            <a:endCxn id="479" idx="2"/>
          </p:cNvCxnSpPr>
          <p:nvPr/>
        </p:nvCxnSpPr>
        <p:spPr>
          <a:xfrm rot="10800000">
            <a:off x="9891825" y="2354475"/>
            <a:ext cx="385800" cy="1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23"/>
          <p:cNvSpPr txBox="1"/>
          <p:nvPr/>
        </p:nvSpPr>
        <p:spPr>
          <a:xfrm>
            <a:off x="5462588" y="5038250"/>
            <a:ext cx="1281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問題なければ</a:t>
            </a:r>
            <a:endParaRPr/>
          </a:p>
        </p:txBody>
      </p:sp>
      <p:cxnSp>
        <p:nvCxnSpPr>
          <p:cNvPr id="493" name="Google Shape;493;p23"/>
          <p:cNvCxnSpPr>
            <a:stCxn id="492" idx="3"/>
          </p:cNvCxnSpPr>
          <p:nvPr/>
        </p:nvCxnSpPr>
        <p:spPr>
          <a:xfrm flipH="1" rot="10800000">
            <a:off x="6743888" y="4895750"/>
            <a:ext cx="90060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/>
          <p:nvPr/>
        </p:nvSpPr>
        <p:spPr>
          <a:xfrm>
            <a:off x="601225" y="280125"/>
            <a:ext cx="8338800" cy="455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1991025" y="656800"/>
            <a:ext cx="6195600" cy="41952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2198850" y="916575"/>
            <a:ext cx="5766900" cy="20001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2198850" y="3163600"/>
            <a:ext cx="5766900" cy="16884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744100" y="864625"/>
            <a:ext cx="1143000" cy="276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4"/>
          <p:cNvSpPr txBox="1"/>
          <p:nvPr/>
        </p:nvSpPr>
        <p:spPr>
          <a:xfrm>
            <a:off x="861000" y="929550"/>
            <a:ext cx="857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504" name="Google Shape;504;p24"/>
          <p:cNvSpPr/>
          <p:nvPr/>
        </p:nvSpPr>
        <p:spPr>
          <a:xfrm>
            <a:off x="2198850" y="1228375"/>
            <a:ext cx="389700" cy="16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9類</a:t>
            </a:r>
            <a:endParaRPr/>
          </a:p>
        </p:txBody>
      </p:sp>
      <p:sp>
        <p:nvSpPr>
          <p:cNvPr id="505" name="Google Shape;505;p24"/>
          <p:cNvSpPr/>
          <p:nvPr/>
        </p:nvSpPr>
        <p:spPr>
          <a:xfrm>
            <a:off x="25885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書名１</a:t>
            </a:r>
            <a:endParaRPr/>
          </a:p>
        </p:txBody>
      </p:sp>
      <p:sp>
        <p:nvSpPr>
          <p:cNvPr id="506" name="Google Shape;506;p24"/>
          <p:cNvSpPr/>
          <p:nvPr/>
        </p:nvSpPr>
        <p:spPr>
          <a:xfrm>
            <a:off x="29782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書名2</a:t>
            </a:r>
            <a:endParaRPr/>
          </a:p>
        </p:txBody>
      </p:sp>
      <p:sp>
        <p:nvSpPr>
          <p:cNvPr id="507" name="Google Shape;507;p24"/>
          <p:cNvSpPr/>
          <p:nvPr/>
        </p:nvSpPr>
        <p:spPr>
          <a:xfrm>
            <a:off x="33679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37576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4"/>
          <p:cNvSpPr/>
          <p:nvPr/>
        </p:nvSpPr>
        <p:spPr>
          <a:xfrm>
            <a:off x="4147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4"/>
          <p:cNvSpPr/>
          <p:nvPr/>
        </p:nvSpPr>
        <p:spPr>
          <a:xfrm>
            <a:off x="4552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4942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4"/>
          <p:cNvSpPr/>
          <p:nvPr/>
        </p:nvSpPr>
        <p:spPr>
          <a:xfrm>
            <a:off x="57367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4"/>
          <p:cNvSpPr/>
          <p:nvPr/>
        </p:nvSpPr>
        <p:spPr>
          <a:xfrm>
            <a:off x="6126451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65161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/>
          <p:nvPr/>
        </p:nvSpPr>
        <p:spPr>
          <a:xfrm>
            <a:off x="5347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4"/>
          <p:cNvSpPr/>
          <p:nvPr/>
        </p:nvSpPr>
        <p:spPr>
          <a:xfrm>
            <a:off x="6899988" y="12997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4"/>
          <p:cNvSpPr/>
          <p:nvPr/>
        </p:nvSpPr>
        <p:spPr>
          <a:xfrm>
            <a:off x="7494150" y="1371175"/>
            <a:ext cx="467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4"/>
          <p:cNvSpPr/>
          <p:nvPr/>
        </p:nvSpPr>
        <p:spPr>
          <a:xfrm>
            <a:off x="7201946" y="13711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2198850" y="3507700"/>
            <a:ext cx="389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4類</a:t>
            </a:r>
            <a:endParaRPr/>
          </a:p>
        </p:txBody>
      </p:sp>
      <p:sp>
        <p:nvSpPr>
          <p:cNvPr id="520" name="Google Shape;520;p24"/>
          <p:cNvSpPr/>
          <p:nvPr/>
        </p:nvSpPr>
        <p:spPr>
          <a:xfrm>
            <a:off x="25885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4"/>
          <p:cNvSpPr/>
          <p:nvPr/>
        </p:nvSpPr>
        <p:spPr>
          <a:xfrm>
            <a:off x="33679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"/>
          <p:cNvSpPr/>
          <p:nvPr/>
        </p:nvSpPr>
        <p:spPr>
          <a:xfrm>
            <a:off x="29782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4"/>
          <p:cNvSpPr/>
          <p:nvPr/>
        </p:nvSpPr>
        <p:spPr>
          <a:xfrm>
            <a:off x="37576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4"/>
          <p:cNvSpPr/>
          <p:nvPr/>
        </p:nvSpPr>
        <p:spPr>
          <a:xfrm>
            <a:off x="874000" y="3965050"/>
            <a:ext cx="935100" cy="766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追加</a:t>
            </a: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951925" y="151020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4"/>
          <p:cNvSpPr txBox="1"/>
          <p:nvPr/>
        </p:nvSpPr>
        <p:spPr>
          <a:xfrm>
            <a:off x="899975" y="1185475"/>
            <a:ext cx="58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</a:t>
            </a:r>
            <a:endParaRPr/>
          </a:p>
        </p:txBody>
      </p:sp>
      <p:sp>
        <p:nvSpPr>
          <p:cNvPr id="527" name="Google Shape;527;p24"/>
          <p:cNvSpPr/>
          <p:nvPr/>
        </p:nvSpPr>
        <p:spPr>
          <a:xfrm>
            <a:off x="932425" y="228025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4"/>
          <p:cNvSpPr txBox="1"/>
          <p:nvPr/>
        </p:nvSpPr>
        <p:spPr>
          <a:xfrm>
            <a:off x="880475" y="1955525"/>
            <a:ext cx="766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1226500" y="3105100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530" name="Google Shape;530;p24"/>
          <p:cNvSpPr/>
          <p:nvPr/>
        </p:nvSpPr>
        <p:spPr>
          <a:xfrm>
            <a:off x="1393600" y="786450"/>
            <a:ext cx="6909900" cy="357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書籍詳細画面</a:t>
            </a:r>
            <a:endParaRPr/>
          </a:p>
        </p:txBody>
      </p:sp>
      <p:sp>
        <p:nvSpPr>
          <p:cNvPr id="531" name="Google Shape;531;p24"/>
          <p:cNvSpPr txBox="1"/>
          <p:nvPr/>
        </p:nvSpPr>
        <p:spPr>
          <a:xfrm>
            <a:off x="-2269250" y="760700"/>
            <a:ext cx="2452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書籍一覧画面にかぶさる形で画面が開く</a:t>
            </a:r>
            <a:endParaRPr/>
          </a:p>
        </p:txBody>
      </p:sp>
      <p:cxnSp>
        <p:nvCxnSpPr>
          <p:cNvPr id="532" name="Google Shape;532;p24"/>
          <p:cNvCxnSpPr>
            <a:stCxn id="531" idx="3"/>
            <a:endCxn id="530" idx="1"/>
          </p:cNvCxnSpPr>
          <p:nvPr/>
        </p:nvCxnSpPr>
        <p:spPr>
          <a:xfrm>
            <a:off x="183550" y="1202300"/>
            <a:ext cx="1210200" cy="13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4"/>
          <p:cNvSpPr/>
          <p:nvPr/>
        </p:nvSpPr>
        <p:spPr>
          <a:xfrm>
            <a:off x="1733600" y="1228375"/>
            <a:ext cx="993600" cy="10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書影</a:t>
            </a:r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3087525" y="12023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書名：</a:t>
            </a:r>
            <a:r>
              <a:rPr lang="ja">
                <a:solidFill>
                  <a:schemeClr val="dk1"/>
                </a:solidFill>
              </a:rPr>
              <a:t>あああ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3087525" y="1732875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著者名：</a:t>
            </a:r>
            <a:r>
              <a:rPr lang="ja">
                <a:solidFill>
                  <a:schemeClr val="dk1"/>
                </a:solidFill>
              </a:rPr>
              <a:t>あああ</a:t>
            </a:r>
            <a:endParaRPr/>
          </a:p>
        </p:txBody>
      </p:sp>
      <p:sp>
        <p:nvSpPr>
          <p:cNvPr id="536" name="Google Shape;536;p24"/>
          <p:cNvSpPr/>
          <p:nvPr/>
        </p:nvSpPr>
        <p:spPr>
          <a:xfrm>
            <a:off x="3087525" y="23062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出版社</a:t>
            </a:r>
            <a:r>
              <a:rPr lang="ja">
                <a:solidFill>
                  <a:schemeClr val="dk1"/>
                </a:solidFill>
              </a:rPr>
              <a:t>：ああ社</a:t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5649600" y="23062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出版年月：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5619200" y="30284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税抜価格：</a:t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2547300" y="3028438"/>
            <a:ext cx="15306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ページ数：</a:t>
            </a: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4207900" y="3028475"/>
            <a:ext cx="12813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大きさ：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5649600" y="12023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ISBN：*************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5649600" y="17328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NDC：***.***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7433250" y="3728425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削除</a:t>
            </a:r>
            <a:endParaRPr/>
          </a:p>
        </p:txBody>
      </p:sp>
      <p:cxnSp>
        <p:nvCxnSpPr>
          <p:cNvPr id="544" name="Google Shape;544;p24"/>
          <p:cNvCxnSpPr>
            <a:stCxn id="543" idx="2"/>
            <a:endCxn id="545" idx="0"/>
          </p:cNvCxnSpPr>
          <p:nvPr/>
        </p:nvCxnSpPr>
        <p:spPr>
          <a:xfrm>
            <a:off x="7780350" y="4131025"/>
            <a:ext cx="551100" cy="105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24"/>
          <p:cNvSpPr/>
          <p:nvPr/>
        </p:nvSpPr>
        <p:spPr>
          <a:xfrm>
            <a:off x="6540650" y="3728425"/>
            <a:ext cx="694200" cy="402600"/>
          </a:xfrm>
          <a:prstGeom prst="roundRect">
            <a:avLst>
              <a:gd fmla="val 28142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更新</a:t>
            </a:r>
            <a:endParaRPr/>
          </a:p>
        </p:txBody>
      </p:sp>
      <p:cxnSp>
        <p:nvCxnSpPr>
          <p:cNvPr id="547" name="Google Shape;547;p24"/>
          <p:cNvCxnSpPr>
            <a:stCxn id="546" idx="2"/>
            <a:endCxn id="548" idx="0"/>
          </p:cNvCxnSpPr>
          <p:nvPr/>
        </p:nvCxnSpPr>
        <p:spPr>
          <a:xfrm flipH="1">
            <a:off x="6356750" y="4131025"/>
            <a:ext cx="531000" cy="105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24"/>
          <p:cNvSpPr txBox="1"/>
          <p:nvPr/>
        </p:nvSpPr>
        <p:spPr>
          <a:xfrm>
            <a:off x="5430550" y="5185750"/>
            <a:ext cx="1852200" cy="49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書籍情報更新画面に遷移する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4"/>
          <p:cNvSpPr txBox="1"/>
          <p:nvPr/>
        </p:nvSpPr>
        <p:spPr>
          <a:xfrm>
            <a:off x="7603650" y="5185750"/>
            <a:ext cx="1455600" cy="49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1646975" y="3728425"/>
            <a:ext cx="857400" cy="402600"/>
          </a:xfrm>
          <a:prstGeom prst="roundRect">
            <a:avLst>
              <a:gd fmla="val 28142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閉じる</a:t>
            </a:r>
            <a:endParaRPr/>
          </a:p>
        </p:txBody>
      </p:sp>
      <p:cxnSp>
        <p:nvCxnSpPr>
          <p:cNvPr id="550" name="Google Shape;550;p24"/>
          <p:cNvCxnSpPr>
            <a:stCxn id="549" idx="1"/>
            <a:endCxn id="551" idx="3"/>
          </p:cNvCxnSpPr>
          <p:nvPr/>
        </p:nvCxnSpPr>
        <p:spPr>
          <a:xfrm rot="10800000">
            <a:off x="237575" y="3745825"/>
            <a:ext cx="1409400" cy="1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p24"/>
          <p:cNvSpPr txBox="1"/>
          <p:nvPr/>
        </p:nvSpPr>
        <p:spPr>
          <a:xfrm>
            <a:off x="-1171925" y="3497275"/>
            <a:ext cx="1409400" cy="49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書籍一覧画面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-1232525" y="4088700"/>
            <a:ext cx="1530600" cy="105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詳細画面の外側をクリックしても書籍一覧画面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7753950" y="358150"/>
            <a:ext cx="1143000" cy="2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cxnSp>
        <p:nvCxnSpPr>
          <p:cNvPr id="554" name="Google Shape;554;p24"/>
          <p:cNvCxnSpPr>
            <a:stCxn id="555" idx="3"/>
            <a:endCxn id="530" idx="1"/>
          </p:cNvCxnSpPr>
          <p:nvPr/>
        </p:nvCxnSpPr>
        <p:spPr>
          <a:xfrm>
            <a:off x="-316200" y="2549575"/>
            <a:ext cx="1709700" cy="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24"/>
          <p:cNvSpPr txBox="1"/>
          <p:nvPr/>
        </p:nvSpPr>
        <p:spPr>
          <a:xfrm>
            <a:off x="-1771800" y="1776775"/>
            <a:ext cx="14556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書名がすべて表示できるように縦に大きさが変わる</a:t>
            </a:r>
            <a:endParaRPr/>
          </a:p>
        </p:txBody>
      </p:sp>
      <p:cxnSp>
        <p:nvCxnSpPr>
          <p:cNvPr id="556" name="Google Shape;556;p24"/>
          <p:cNvCxnSpPr>
            <a:stCxn id="534" idx="1"/>
            <a:endCxn id="555" idx="3"/>
          </p:cNvCxnSpPr>
          <p:nvPr/>
        </p:nvCxnSpPr>
        <p:spPr>
          <a:xfrm flipH="1">
            <a:off x="-316275" y="1386050"/>
            <a:ext cx="3403800" cy="11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/>
          <p:nvPr/>
        </p:nvSpPr>
        <p:spPr>
          <a:xfrm>
            <a:off x="601225" y="280125"/>
            <a:ext cx="8338800" cy="455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1991025" y="656800"/>
            <a:ext cx="6195600" cy="41952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5"/>
          <p:cNvSpPr/>
          <p:nvPr/>
        </p:nvSpPr>
        <p:spPr>
          <a:xfrm>
            <a:off x="2198850" y="916575"/>
            <a:ext cx="5766900" cy="20001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2198850" y="3163600"/>
            <a:ext cx="5766900" cy="16884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744100" y="864625"/>
            <a:ext cx="1143000" cy="276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"/>
          <p:cNvSpPr txBox="1"/>
          <p:nvPr/>
        </p:nvSpPr>
        <p:spPr>
          <a:xfrm>
            <a:off x="861000" y="929550"/>
            <a:ext cx="857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567" name="Google Shape;567;p25"/>
          <p:cNvSpPr/>
          <p:nvPr/>
        </p:nvSpPr>
        <p:spPr>
          <a:xfrm>
            <a:off x="2198850" y="1228375"/>
            <a:ext cx="389700" cy="16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9類</a:t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25885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書名１</a:t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29782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書名2</a:t>
            </a: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33679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37576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4147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"/>
          <p:cNvSpPr/>
          <p:nvPr/>
        </p:nvSpPr>
        <p:spPr>
          <a:xfrm>
            <a:off x="45523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4942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57367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6126451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65161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5347050" y="1371175"/>
            <a:ext cx="389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"/>
          <p:cNvSpPr/>
          <p:nvPr/>
        </p:nvSpPr>
        <p:spPr>
          <a:xfrm>
            <a:off x="6899988" y="12997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7494150" y="1371175"/>
            <a:ext cx="4677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5"/>
          <p:cNvSpPr/>
          <p:nvPr/>
        </p:nvSpPr>
        <p:spPr>
          <a:xfrm>
            <a:off x="7201946" y="1371175"/>
            <a:ext cx="292200" cy="154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5"/>
          <p:cNvSpPr/>
          <p:nvPr/>
        </p:nvSpPr>
        <p:spPr>
          <a:xfrm>
            <a:off x="2198850" y="3507700"/>
            <a:ext cx="389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4類</a:t>
            </a:r>
            <a:endParaRPr/>
          </a:p>
        </p:txBody>
      </p:sp>
      <p:sp>
        <p:nvSpPr>
          <p:cNvPr id="583" name="Google Shape;583;p25"/>
          <p:cNvSpPr/>
          <p:nvPr/>
        </p:nvSpPr>
        <p:spPr>
          <a:xfrm>
            <a:off x="25885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33679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29782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3757650" y="3631225"/>
            <a:ext cx="389700" cy="12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874000" y="3965050"/>
            <a:ext cx="935100" cy="766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追加</a:t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951925" y="151020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5"/>
          <p:cNvSpPr txBox="1"/>
          <p:nvPr/>
        </p:nvSpPr>
        <p:spPr>
          <a:xfrm>
            <a:off x="899975" y="1185475"/>
            <a:ext cx="58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</a:t>
            </a:r>
            <a:endParaRPr/>
          </a:p>
        </p:txBody>
      </p:sp>
      <p:sp>
        <p:nvSpPr>
          <p:cNvPr id="590" name="Google Shape;590;p25"/>
          <p:cNvSpPr/>
          <p:nvPr/>
        </p:nvSpPr>
        <p:spPr>
          <a:xfrm>
            <a:off x="932425" y="2280250"/>
            <a:ext cx="766500" cy="36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 txBox="1"/>
          <p:nvPr/>
        </p:nvSpPr>
        <p:spPr>
          <a:xfrm>
            <a:off x="880475" y="1955525"/>
            <a:ext cx="766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著者名</a:t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1226500" y="3105100"/>
            <a:ext cx="5826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</a:t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>
            <a:off x="1393600" y="786450"/>
            <a:ext cx="6909900" cy="357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書籍</a:t>
            </a:r>
            <a:r>
              <a:rPr lang="ja">
                <a:solidFill>
                  <a:schemeClr val="dk1"/>
                </a:solidFill>
              </a:rPr>
              <a:t>削除</a:t>
            </a:r>
            <a:r>
              <a:rPr lang="ja">
                <a:solidFill>
                  <a:schemeClr val="dk1"/>
                </a:solidFill>
              </a:rPr>
              <a:t>画面</a:t>
            </a:r>
            <a:endParaRPr/>
          </a:p>
        </p:txBody>
      </p:sp>
      <p:sp>
        <p:nvSpPr>
          <p:cNvPr id="594" name="Google Shape;594;p25"/>
          <p:cNvSpPr txBox="1"/>
          <p:nvPr/>
        </p:nvSpPr>
        <p:spPr>
          <a:xfrm>
            <a:off x="-1034200" y="786450"/>
            <a:ext cx="1565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書籍一覧画面に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かぶさる形で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画面が開く</a:t>
            </a:r>
            <a:endParaRPr/>
          </a:p>
        </p:txBody>
      </p:sp>
      <p:cxnSp>
        <p:nvCxnSpPr>
          <p:cNvPr id="595" name="Google Shape;595;p25"/>
          <p:cNvCxnSpPr>
            <a:stCxn id="594" idx="3"/>
            <a:endCxn id="593" idx="1"/>
          </p:cNvCxnSpPr>
          <p:nvPr/>
        </p:nvCxnSpPr>
        <p:spPr>
          <a:xfrm>
            <a:off x="530900" y="1228050"/>
            <a:ext cx="862800" cy="13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25"/>
          <p:cNvSpPr/>
          <p:nvPr/>
        </p:nvSpPr>
        <p:spPr>
          <a:xfrm>
            <a:off x="1733600" y="1228375"/>
            <a:ext cx="993600" cy="10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書影</a:t>
            </a:r>
            <a:endParaRPr/>
          </a:p>
        </p:txBody>
      </p:sp>
      <p:sp>
        <p:nvSpPr>
          <p:cNvPr id="597" name="Google Shape;597;p25"/>
          <p:cNvSpPr/>
          <p:nvPr/>
        </p:nvSpPr>
        <p:spPr>
          <a:xfrm>
            <a:off x="3087525" y="12023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書名</a:t>
            </a:r>
            <a:r>
              <a:rPr lang="ja">
                <a:solidFill>
                  <a:schemeClr val="dk1"/>
                </a:solidFill>
              </a:rPr>
              <a:t>：あああ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3087525" y="1732875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著者名</a:t>
            </a:r>
            <a:r>
              <a:rPr lang="ja">
                <a:solidFill>
                  <a:schemeClr val="dk1"/>
                </a:solidFill>
              </a:rPr>
              <a:t>：あああ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3087525" y="2306200"/>
            <a:ext cx="24528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出版社</a:t>
            </a:r>
            <a:r>
              <a:rPr lang="ja">
                <a:solidFill>
                  <a:schemeClr val="dk1"/>
                </a:solidFill>
              </a:rPr>
              <a:t>：ああ社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5649600" y="23062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出版年月：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5649600" y="1202300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ISBN：*************</a:t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5649600" y="1732875"/>
            <a:ext cx="2537100" cy="3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NDC：***.***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7433250" y="3728425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削除</a:t>
            </a:r>
            <a:endParaRPr/>
          </a:p>
        </p:txBody>
      </p:sp>
      <p:sp>
        <p:nvSpPr>
          <p:cNvPr id="604" name="Google Shape;604;p25"/>
          <p:cNvSpPr txBox="1"/>
          <p:nvPr/>
        </p:nvSpPr>
        <p:spPr>
          <a:xfrm>
            <a:off x="3660075" y="3031900"/>
            <a:ext cx="3422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この本を削除しますか？</a:t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1718400" y="3742000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戻る</a:t>
            </a:r>
            <a:endParaRPr/>
          </a:p>
        </p:txBody>
      </p:sp>
      <p:cxnSp>
        <p:nvCxnSpPr>
          <p:cNvPr id="606" name="Google Shape;606;p25"/>
          <p:cNvCxnSpPr>
            <a:stCxn id="603" idx="2"/>
            <a:endCxn id="607" idx="1"/>
          </p:cNvCxnSpPr>
          <p:nvPr/>
        </p:nvCxnSpPr>
        <p:spPr>
          <a:xfrm flipH="1" rot="10800000">
            <a:off x="7780350" y="4128625"/>
            <a:ext cx="1410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25"/>
          <p:cNvCxnSpPr>
            <a:stCxn id="605" idx="2"/>
            <a:endCxn id="609" idx="0"/>
          </p:cNvCxnSpPr>
          <p:nvPr/>
        </p:nvCxnSpPr>
        <p:spPr>
          <a:xfrm>
            <a:off x="2065500" y="4144600"/>
            <a:ext cx="3282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25"/>
          <p:cNvSpPr txBox="1"/>
          <p:nvPr/>
        </p:nvSpPr>
        <p:spPr>
          <a:xfrm>
            <a:off x="8550150" y="834775"/>
            <a:ext cx="21300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 txBox="1"/>
          <p:nvPr/>
        </p:nvSpPr>
        <p:spPr>
          <a:xfrm>
            <a:off x="1682550" y="4888225"/>
            <a:ext cx="1422300" cy="56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611" name="Google Shape;611;p25"/>
          <p:cNvSpPr txBox="1"/>
          <p:nvPr/>
        </p:nvSpPr>
        <p:spPr>
          <a:xfrm>
            <a:off x="7780350" y="4839400"/>
            <a:ext cx="1422300" cy="56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</a:t>
            </a:r>
            <a:r>
              <a:rPr lang="ja"/>
              <a:t>一覧</a:t>
            </a:r>
            <a:r>
              <a:rPr lang="ja"/>
              <a:t>画面</a:t>
            </a:r>
            <a:r>
              <a:rPr lang="ja">
                <a:solidFill>
                  <a:schemeClr val="dk1"/>
                </a:solidFill>
              </a:rPr>
              <a:t>に遷移する</a:t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753950" y="358150"/>
            <a:ext cx="1143000" cy="2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cxnSp>
        <p:nvCxnSpPr>
          <p:cNvPr id="613" name="Google Shape;613;p25"/>
          <p:cNvCxnSpPr>
            <a:stCxn id="614" idx="3"/>
            <a:endCxn id="593" idx="1"/>
          </p:cNvCxnSpPr>
          <p:nvPr/>
        </p:nvCxnSpPr>
        <p:spPr>
          <a:xfrm>
            <a:off x="328600" y="2559675"/>
            <a:ext cx="10650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25"/>
          <p:cNvSpPr txBox="1"/>
          <p:nvPr/>
        </p:nvSpPr>
        <p:spPr>
          <a:xfrm>
            <a:off x="-1127000" y="1786875"/>
            <a:ext cx="14556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書名がすべて表示できるように縦に大きさが変わる</a:t>
            </a:r>
            <a:endParaRPr/>
          </a:p>
        </p:txBody>
      </p:sp>
      <p:cxnSp>
        <p:nvCxnSpPr>
          <p:cNvPr id="615" name="Google Shape;615;p25"/>
          <p:cNvCxnSpPr>
            <a:stCxn id="597" idx="1"/>
            <a:endCxn id="614" idx="3"/>
          </p:cNvCxnSpPr>
          <p:nvPr/>
        </p:nvCxnSpPr>
        <p:spPr>
          <a:xfrm flipH="1">
            <a:off x="328725" y="1386050"/>
            <a:ext cx="2758800" cy="11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25"/>
          <p:cNvSpPr/>
          <p:nvPr/>
        </p:nvSpPr>
        <p:spPr>
          <a:xfrm>
            <a:off x="9248963" y="3634600"/>
            <a:ext cx="2336700" cy="13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 txBox="1"/>
          <p:nvPr/>
        </p:nvSpPr>
        <p:spPr>
          <a:xfrm>
            <a:off x="9190913" y="3745638"/>
            <a:ext cx="24528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“書名”を削除します。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よろしいですか？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617" name="Google Shape;617;p25"/>
          <p:cNvCxnSpPr>
            <a:stCxn id="618" idx="2"/>
            <a:endCxn id="611" idx="3"/>
          </p:cNvCxnSpPr>
          <p:nvPr/>
        </p:nvCxnSpPr>
        <p:spPr>
          <a:xfrm flipH="1">
            <a:off x="9202775" y="4816900"/>
            <a:ext cx="1840200" cy="30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25"/>
          <p:cNvSpPr/>
          <p:nvPr/>
        </p:nvSpPr>
        <p:spPr>
          <a:xfrm>
            <a:off x="10695875" y="4414300"/>
            <a:ext cx="6942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はい</a:t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9398900" y="4414300"/>
            <a:ext cx="857400" cy="4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いいえ</a:t>
            </a:r>
            <a:endParaRPr/>
          </a:p>
        </p:txBody>
      </p:sp>
      <p:sp>
        <p:nvSpPr>
          <p:cNvPr id="620" name="Google Shape;620;p25"/>
          <p:cNvSpPr txBox="1"/>
          <p:nvPr/>
        </p:nvSpPr>
        <p:spPr>
          <a:xfrm>
            <a:off x="9064050" y="2549450"/>
            <a:ext cx="2266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削除確認を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ポップアップで出力</a:t>
            </a:r>
            <a:r>
              <a:rPr lang="ja"/>
              <a:t>する</a:t>
            </a:r>
            <a:endParaRPr/>
          </a:p>
        </p:txBody>
      </p:sp>
      <p:cxnSp>
        <p:nvCxnSpPr>
          <p:cNvPr id="621" name="Google Shape;621;p25"/>
          <p:cNvCxnSpPr>
            <a:stCxn id="620" idx="2"/>
            <a:endCxn id="616" idx="0"/>
          </p:cNvCxnSpPr>
          <p:nvPr/>
        </p:nvCxnSpPr>
        <p:spPr>
          <a:xfrm>
            <a:off x="10197150" y="3177950"/>
            <a:ext cx="220200" cy="4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200"/>
              <a:t>クラス</a:t>
            </a:r>
            <a:r>
              <a:rPr lang="ja" sz="5200">
                <a:solidFill>
                  <a:srgbClr val="000000"/>
                </a:solidFill>
              </a:rPr>
              <a:t>図</a:t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627" name="Google Shape;627;p26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595959"/>
                </a:solidFill>
              </a:rPr>
              <a:t>2023/08/25現在予定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2" name="Google Shape;632;p27"/>
          <p:cNvGrpSpPr/>
          <p:nvPr/>
        </p:nvGrpSpPr>
        <p:grpSpPr>
          <a:xfrm>
            <a:off x="129450" y="1020455"/>
            <a:ext cx="1701900" cy="1996993"/>
            <a:chOff x="-2256975" y="-272125"/>
            <a:chExt cx="1701900" cy="2183699"/>
          </a:xfrm>
        </p:grpSpPr>
        <p:sp>
          <p:nvSpPr>
            <p:cNvPr id="633" name="Google Shape;633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loginPage</a:t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mailaddless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password</a:t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-2256975" y="1102474"/>
              <a:ext cx="1701900" cy="80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login()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clickEntry()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clickG</a:t>
              </a:r>
              <a:r>
                <a:rPr lang="ja"/>
                <a:t>uide()</a:t>
              </a:r>
              <a:endParaRPr/>
            </a:p>
          </p:txBody>
        </p:sp>
      </p:grpSp>
      <p:grpSp>
        <p:nvGrpSpPr>
          <p:cNvPr id="636" name="Google Shape;636;p27"/>
          <p:cNvGrpSpPr/>
          <p:nvPr/>
        </p:nvGrpSpPr>
        <p:grpSpPr>
          <a:xfrm>
            <a:off x="129450" y="4226730"/>
            <a:ext cx="1701900" cy="1996993"/>
            <a:chOff x="-2256975" y="-272125"/>
            <a:chExt cx="1701900" cy="2183699"/>
          </a:xfrm>
        </p:grpSpPr>
        <p:sp>
          <p:nvSpPr>
            <p:cNvPr id="637" name="Google Shape;637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NewUserPage</a:t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mailaddless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password</a:t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-2256975" y="1102474"/>
              <a:ext cx="1701900" cy="80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entryUser()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clickBack()</a:t>
              </a:r>
              <a:endParaRPr/>
            </a:p>
          </p:txBody>
        </p:sp>
      </p:grpSp>
      <p:grpSp>
        <p:nvGrpSpPr>
          <p:cNvPr id="640" name="Google Shape;640;p27"/>
          <p:cNvGrpSpPr/>
          <p:nvPr/>
        </p:nvGrpSpPr>
        <p:grpSpPr>
          <a:xfrm>
            <a:off x="2592063" y="1573205"/>
            <a:ext cx="1701900" cy="2410796"/>
            <a:chOff x="-2256975" y="-272125"/>
            <a:chExt cx="1701900" cy="2636190"/>
          </a:xfrm>
        </p:grpSpPr>
        <p:sp>
          <p:nvSpPr>
            <p:cNvPr id="641" name="Google Shape;641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</a:t>
              </a:r>
              <a:r>
                <a:rPr lang="ja"/>
                <a:t>Page</a:t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-2256975" y="350068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u="sng"/>
                <a:t>userId</a:t>
              </a:r>
              <a:endParaRPr u="sng"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-2256975" y="910265"/>
              <a:ext cx="1701900" cy="145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logout()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bookSearch()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clickDetailPage()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clickInsertPage()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">
                  <a:solidFill>
                    <a:schemeClr val="dk1"/>
                  </a:solidFill>
                </a:rPr>
                <a:t>clickGuide()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27"/>
          <p:cNvGrpSpPr/>
          <p:nvPr/>
        </p:nvGrpSpPr>
        <p:grpSpPr>
          <a:xfrm>
            <a:off x="5156150" y="1573192"/>
            <a:ext cx="1701900" cy="1997076"/>
            <a:chOff x="-2256975" y="-272125"/>
            <a:chExt cx="1701900" cy="2183790"/>
          </a:xfrm>
        </p:grpSpPr>
        <p:sp>
          <p:nvSpPr>
            <p:cNvPr id="645" name="Google Shape;645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bookDetailPage</a:t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-2256975" y="771365"/>
              <a:ext cx="1701900" cy="1140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detail</a:t>
              </a:r>
              <a:r>
                <a:rPr lang="ja"/>
                <a:t>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clickBackPageD()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clickDeletePage()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clickInsertPage()</a:t>
              </a:r>
              <a:endParaRPr/>
            </a:p>
          </p:txBody>
        </p:sp>
      </p:grpSp>
      <p:grpSp>
        <p:nvGrpSpPr>
          <p:cNvPr id="648" name="Google Shape;648;p27"/>
          <p:cNvGrpSpPr/>
          <p:nvPr/>
        </p:nvGrpSpPr>
        <p:grpSpPr>
          <a:xfrm>
            <a:off x="5054700" y="3880642"/>
            <a:ext cx="1701900" cy="1996993"/>
            <a:chOff x="-2256975" y="-272125"/>
            <a:chExt cx="1701900" cy="2183699"/>
          </a:xfrm>
        </p:grpSpPr>
        <p:sp>
          <p:nvSpPr>
            <p:cNvPr id="649" name="Google Shape;649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bookInsert</a:t>
              </a:r>
              <a:r>
                <a:rPr lang="ja"/>
                <a:t>Page</a:t>
              </a: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-2256975" y="1102474"/>
              <a:ext cx="1701900" cy="80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InsertBook()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clickBackPageI()</a:t>
              </a:r>
              <a:endParaRPr/>
            </a:p>
          </p:txBody>
        </p:sp>
      </p:grpSp>
      <p:grpSp>
        <p:nvGrpSpPr>
          <p:cNvPr id="652" name="Google Shape;652;p27"/>
          <p:cNvGrpSpPr/>
          <p:nvPr/>
        </p:nvGrpSpPr>
        <p:grpSpPr>
          <a:xfrm>
            <a:off x="7378600" y="3984055"/>
            <a:ext cx="1701900" cy="1996993"/>
            <a:chOff x="-2256975" y="-272125"/>
            <a:chExt cx="1701900" cy="2183699"/>
          </a:xfrm>
        </p:grpSpPr>
        <p:sp>
          <p:nvSpPr>
            <p:cNvPr id="653" name="Google Shape;653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bookDelete</a:t>
              </a:r>
              <a:r>
                <a:rPr lang="ja"/>
                <a:t>Page</a:t>
              </a: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-2256975" y="1102474"/>
              <a:ext cx="1701900" cy="80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deleteBook</a:t>
              </a:r>
              <a:r>
                <a:rPr lang="ja"/>
                <a:t>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clickCancel()</a:t>
              </a:r>
              <a:endParaRPr/>
            </a:p>
          </p:txBody>
        </p:sp>
      </p:grpSp>
      <p:grpSp>
        <p:nvGrpSpPr>
          <p:cNvPr id="656" name="Google Shape;656;p27"/>
          <p:cNvGrpSpPr/>
          <p:nvPr/>
        </p:nvGrpSpPr>
        <p:grpSpPr>
          <a:xfrm>
            <a:off x="2592075" y="4935490"/>
            <a:ext cx="1701900" cy="2017222"/>
            <a:chOff x="-2256975" y="-69624"/>
            <a:chExt cx="1701900" cy="1545882"/>
          </a:xfrm>
        </p:grpSpPr>
        <p:sp>
          <p:nvSpPr>
            <p:cNvPr id="657" name="Google Shape;657;p27"/>
            <p:cNvSpPr/>
            <p:nvPr/>
          </p:nvSpPr>
          <p:spPr>
            <a:xfrm>
              <a:off x="-2256975" y="-69624"/>
              <a:ext cx="1701900" cy="41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</a:t>
              </a: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-2256975" y="350063"/>
              <a:ext cx="1701900" cy="900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">
                  <a:solidFill>
                    <a:schemeClr val="dk1"/>
                  </a:solidFill>
                </a:rPr>
                <a:t>bookNo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title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author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isbn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NDC</a:t>
              </a: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-2256975" y="1250059"/>
              <a:ext cx="1701900" cy="226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60" name="Google Shape;660;p27"/>
          <p:cNvCxnSpPr>
            <a:stCxn id="643" idx="2"/>
            <a:endCxn id="657" idx="0"/>
          </p:cNvCxnSpPr>
          <p:nvPr/>
        </p:nvCxnSpPr>
        <p:spPr>
          <a:xfrm>
            <a:off x="3443013" y="3984001"/>
            <a:ext cx="0" cy="9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1" name="Google Shape;661;p27"/>
          <p:cNvGrpSpPr/>
          <p:nvPr/>
        </p:nvGrpSpPr>
        <p:grpSpPr>
          <a:xfrm>
            <a:off x="3647450" y="12"/>
            <a:ext cx="1701900" cy="936503"/>
            <a:chOff x="-2256975" y="-272125"/>
            <a:chExt cx="1701900" cy="1996809"/>
          </a:xfrm>
        </p:grpSpPr>
        <p:sp>
          <p:nvSpPr>
            <p:cNvPr id="662" name="Google Shape;662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Page</a:t>
              </a: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-2256975" y="1102484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65" name="Google Shape;665;p27"/>
          <p:cNvCxnSpPr>
            <a:stCxn id="655" idx="2"/>
            <a:endCxn id="658" idx="3"/>
          </p:cNvCxnSpPr>
          <p:nvPr/>
        </p:nvCxnSpPr>
        <p:spPr>
          <a:xfrm rot="5400000">
            <a:off x="6217000" y="4057897"/>
            <a:ext cx="89400" cy="393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27"/>
          <p:cNvCxnSpPr>
            <a:stCxn id="651" idx="2"/>
            <a:endCxn id="658" idx="3"/>
          </p:cNvCxnSpPr>
          <p:nvPr/>
        </p:nvCxnSpPr>
        <p:spPr>
          <a:xfrm rot="5400000">
            <a:off x="5003550" y="5168135"/>
            <a:ext cx="192600" cy="161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27"/>
          <p:cNvCxnSpPr>
            <a:stCxn id="647" idx="3"/>
            <a:endCxn id="658" idx="3"/>
          </p:cNvCxnSpPr>
          <p:nvPr/>
        </p:nvCxnSpPr>
        <p:spPr>
          <a:xfrm flipH="1">
            <a:off x="4293950" y="3048866"/>
            <a:ext cx="2564100" cy="3021600"/>
          </a:xfrm>
          <a:prstGeom prst="bentConnector3">
            <a:avLst>
              <a:gd fmla="val -92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8" name="Google Shape;668;p27"/>
          <p:cNvGrpSpPr/>
          <p:nvPr/>
        </p:nvGrpSpPr>
        <p:grpSpPr>
          <a:xfrm>
            <a:off x="7262950" y="1573230"/>
            <a:ext cx="1701900" cy="1996993"/>
            <a:chOff x="-2256975" y="-272125"/>
            <a:chExt cx="1701900" cy="2183699"/>
          </a:xfrm>
        </p:grpSpPr>
        <p:sp>
          <p:nvSpPr>
            <p:cNvPr id="669" name="Google Shape;669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bookE</a:t>
              </a:r>
              <a:r>
                <a:rPr lang="ja"/>
                <a:t>ntry</a:t>
              </a:r>
              <a:r>
                <a:rPr lang="ja"/>
                <a:t>Page</a:t>
              </a: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-2256975" y="1102474"/>
              <a:ext cx="1701900" cy="80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Entry</a:t>
              </a:r>
              <a:r>
                <a:rPr lang="ja"/>
                <a:t>Book()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clickBackPageE()</a:t>
              </a:r>
              <a:endParaRPr/>
            </a:p>
          </p:txBody>
        </p:sp>
      </p:grpSp>
      <p:cxnSp>
        <p:nvCxnSpPr>
          <p:cNvPr id="672" name="Google Shape;672;p27"/>
          <p:cNvCxnSpPr>
            <a:stCxn id="670" idx="3"/>
            <a:endCxn id="658" idx="3"/>
          </p:cNvCxnSpPr>
          <p:nvPr/>
        </p:nvCxnSpPr>
        <p:spPr>
          <a:xfrm flipH="1">
            <a:off x="4293850" y="2486267"/>
            <a:ext cx="4671000" cy="3584100"/>
          </a:xfrm>
          <a:prstGeom prst="bentConnector3">
            <a:avLst>
              <a:gd fmla="val -50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3" name="Google Shape;673;p27"/>
          <p:cNvGrpSpPr/>
          <p:nvPr/>
        </p:nvGrpSpPr>
        <p:grpSpPr>
          <a:xfrm>
            <a:off x="221900" y="47318"/>
            <a:ext cx="1701900" cy="762241"/>
            <a:chOff x="-2256975" y="-272125"/>
            <a:chExt cx="1701900" cy="1425815"/>
          </a:xfrm>
        </p:grpSpPr>
        <p:sp>
          <p:nvSpPr>
            <p:cNvPr id="674" name="Google Shape;674;p27"/>
            <p:cNvSpPr/>
            <p:nvPr/>
          </p:nvSpPr>
          <p:spPr>
            <a:xfrm>
              <a:off x="-2256975" y="-272125"/>
              <a:ext cx="1701900" cy="622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/>
                <a:t>guide</a:t>
              </a:r>
              <a:r>
                <a:rPr lang="ja"/>
                <a:t>Page</a:t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-2256975" y="350075"/>
              <a:ext cx="1701900" cy="752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-2256975" y="693790"/>
              <a:ext cx="1701900" cy="459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77" name="Google Shape;677;p27"/>
          <p:cNvCxnSpPr>
            <a:stCxn id="669" idx="0"/>
            <a:endCxn id="664" idx="2"/>
          </p:cNvCxnSpPr>
          <p:nvPr/>
        </p:nvCxnSpPr>
        <p:spPr>
          <a:xfrm flipH="1" rot="5400000">
            <a:off x="5987800" y="-552870"/>
            <a:ext cx="636600" cy="3615600"/>
          </a:xfrm>
          <a:prstGeom prst="bentConnector3">
            <a:avLst>
              <a:gd fmla="val 393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27"/>
          <p:cNvCxnSpPr>
            <a:stCxn id="637" idx="0"/>
            <a:endCxn id="664" idx="2"/>
          </p:cNvCxnSpPr>
          <p:nvPr/>
        </p:nvCxnSpPr>
        <p:spPr>
          <a:xfrm rot="-5400000">
            <a:off x="1094400" y="822630"/>
            <a:ext cx="3290100" cy="3518100"/>
          </a:xfrm>
          <a:prstGeom prst="bentConnector3">
            <a:avLst>
              <a:gd fmla="val 45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27"/>
          <p:cNvCxnSpPr>
            <a:stCxn id="664" idx="2"/>
            <a:endCxn id="649" idx="0"/>
          </p:cNvCxnSpPr>
          <p:nvPr/>
        </p:nvCxnSpPr>
        <p:spPr>
          <a:xfrm flipH="1" rot="-5400000">
            <a:off x="3729950" y="1704966"/>
            <a:ext cx="2944200" cy="1407300"/>
          </a:xfrm>
          <a:prstGeom prst="bentConnector3">
            <a:avLst>
              <a:gd fmla="val 938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27"/>
          <p:cNvCxnSpPr>
            <a:stCxn id="653" idx="0"/>
            <a:endCxn id="664" idx="2"/>
          </p:cNvCxnSpPr>
          <p:nvPr/>
        </p:nvCxnSpPr>
        <p:spPr>
          <a:xfrm flipH="1" rot="5400000">
            <a:off x="4840300" y="594805"/>
            <a:ext cx="3047400" cy="3731100"/>
          </a:xfrm>
          <a:prstGeom prst="bentConnector3">
            <a:avLst>
              <a:gd fmla="val 93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27"/>
          <p:cNvCxnSpPr>
            <a:stCxn id="645" idx="0"/>
            <a:endCxn id="664" idx="2"/>
          </p:cNvCxnSpPr>
          <p:nvPr/>
        </p:nvCxnSpPr>
        <p:spPr>
          <a:xfrm flipH="1" rot="5400000">
            <a:off x="4934450" y="500542"/>
            <a:ext cx="636600" cy="1508700"/>
          </a:xfrm>
          <a:prstGeom prst="bentConnector3">
            <a:avLst>
              <a:gd fmla="val 3934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27"/>
          <p:cNvCxnSpPr>
            <a:stCxn id="664" idx="2"/>
            <a:endCxn id="641" idx="0"/>
          </p:cNvCxnSpPr>
          <p:nvPr/>
        </p:nvCxnSpPr>
        <p:spPr>
          <a:xfrm rot="5400000">
            <a:off x="3652400" y="727116"/>
            <a:ext cx="636600" cy="1055400"/>
          </a:xfrm>
          <a:prstGeom prst="bentConnector3">
            <a:avLst>
              <a:gd fmla="val 586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27"/>
          <p:cNvCxnSpPr>
            <a:stCxn id="664" idx="2"/>
            <a:endCxn id="633" idx="3"/>
          </p:cNvCxnSpPr>
          <p:nvPr/>
        </p:nvCxnSpPr>
        <p:spPr>
          <a:xfrm rot="5400000">
            <a:off x="2980700" y="-212784"/>
            <a:ext cx="368400" cy="2667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27"/>
          <p:cNvCxnSpPr>
            <a:stCxn id="664" idx="2"/>
            <a:endCxn id="676" idx="3"/>
          </p:cNvCxnSpPr>
          <p:nvPr/>
        </p:nvCxnSpPr>
        <p:spPr>
          <a:xfrm flipH="1" rot="5400000">
            <a:off x="3086150" y="-475734"/>
            <a:ext cx="249900" cy="2574600"/>
          </a:xfrm>
          <a:prstGeom prst="bentConnector4">
            <a:avLst>
              <a:gd fmla="val -144432" name="adj1"/>
              <a:gd fmla="val 6652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27"/>
          <p:cNvSpPr/>
          <p:nvPr/>
        </p:nvSpPr>
        <p:spPr>
          <a:xfrm>
            <a:off x="4282550" y="936650"/>
            <a:ext cx="431700" cy="192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"/>
          <p:cNvSpPr/>
          <p:nvPr/>
        </p:nvSpPr>
        <p:spPr>
          <a:xfrm>
            <a:off x="307450" y="200525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新規ユーザー登録画面遷移</a:t>
            </a:r>
            <a:endParaRPr/>
          </a:p>
        </p:txBody>
      </p:sp>
      <p:sp>
        <p:nvSpPr>
          <p:cNvPr id="691" name="Google Shape;691;p28"/>
          <p:cNvSpPr/>
          <p:nvPr/>
        </p:nvSpPr>
        <p:spPr>
          <a:xfrm>
            <a:off x="307438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新規ユーザー登録画面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DBユーザー登録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(重複チェック)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前の画面に戻る</a:t>
            </a:r>
            <a:endParaRPr/>
          </a:p>
        </p:txBody>
      </p:sp>
      <p:sp>
        <p:nvSpPr>
          <p:cNvPr id="692" name="Google Shape;692;p28"/>
          <p:cNvSpPr/>
          <p:nvPr/>
        </p:nvSpPr>
        <p:spPr>
          <a:xfrm>
            <a:off x="6241450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書籍削除画面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本棚DBから該当情報削除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前の画面に戻る</a:t>
            </a:r>
            <a:endParaRPr/>
          </a:p>
        </p:txBody>
      </p:sp>
      <p:sp>
        <p:nvSpPr>
          <p:cNvPr id="693" name="Google Shape;693;p28"/>
          <p:cNvSpPr/>
          <p:nvPr/>
        </p:nvSpPr>
        <p:spPr>
          <a:xfrm>
            <a:off x="3274450" y="200525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書籍一覧画面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検索(DBアクセス・表示)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詳細画面遷移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登録画面遷移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ログアウト</a:t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6241450" y="200525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書籍詳細画面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一覧で選択された書籍の詳細データ表示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登録画面遷移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削除画面遷移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前の画面に戻る</a:t>
            </a:r>
            <a:endParaRPr/>
          </a:p>
        </p:txBody>
      </p:sp>
      <p:sp>
        <p:nvSpPr>
          <p:cNvPr id="695" name="Google Shape;695;p28"/>
          <p:cNvSpPr/>
          <p:nvPr/>
        </p:nvSpPr>
        <p:spPr>
          <a:xfrm>
            <a:off x="3274450" y="2953900"/>
            <a:ext cx="2390100" cy="19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書籍情報登録・更新画面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必要な機能：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DB書籍登録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ISBNから情報自動入力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(重複チェック)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キャンセル機能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前の画面に戻る</a:t>
            </a:r>
            <a:endParaRPr/>
          </a:p>
        </p:txBody>
      </p:sp>
      <p:cxnSp>
        <p:nvCxnSpPr>
          <p:cNvPr id="696" name="Google Shape;696;p28"/>
          <p:cNvCxnSpPr>
            <a:stCxn id="690" idx="3"/>
            <a:endCxn id="693" idx="1"/>
          </p:cNvCxnSpPr>
          <p:nvPr/>
        </p:nvCxnSpPr>
        <p:spPr>
          <a:xfrm>
            <a:off x="2697550" y="1173275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28"/>
          <p:cNvCxnSpPr>
            <a:stCxn id="690" idx="2"/>
            <a:endCxn id="691" idx="0"/>
          </p:cNvCxnSpPr>
          <p:nvPr/>
        </p:nvCxnSpPr>
        <p:spPr>
          <a:xfrm>
            <a:off x="1502500" y="2146025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28"/>
          <p:cNvCxnSpPr>
            <a:stCxn id="693" idx="3"/>
            <a:endCxn id="694" idx="1"/>
          </p:cNvCxnSpPr>
          <p:nvPr/>
        </p:nvCxnSpPr>
        <p:spPr>
          <a:xfrm>
            <a:off x="5664550" y="1173275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9" name="Google Shape;699;p28"/>
          <p:cNvCxnSpPr>
            <a:stCxn id="694" idx="2"/>
            <a:endCxn id="695" idx="0"/>
          </p:cNvCxnSpPr>
          <p:nvPr/>
        </p:nvCxnSpPr>
        <p:spPr>
          <a:xfrm flipH="1">
            <a:off x="4469500" y="2146025"/>
            <a:ext cx="296700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28"/>
          <p:cNvCxnSpPr>
            <a:stCxn id="694" idx="2"/>
            <a:endCxn id="692" idx="0"/>
          </p:cNvCxnSpPr>
          <p:nvPr/>
        </p:nvCxnSpPr>
        <p:spPr>
          <a:xfrm>
            <a:off x="7436500" y="2146025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1" name="Google Shape;701;p28"/>
          <p:cNvCxnSpPr>
            <a:stCxn id="693" idx="2"/>
            <a:endCxn id="695" idx="0"/>
          </p:cNvCxnSpPr>
          <p:nvPr/>
        </p:nvCxnSpPr>
        <p:spPr>
          <a:xfrm>
            <a:off x="4469500" y="2146025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2" name="Google Shape;702;p28"/>
          <p:cNvCxnSpPr>
            <a:stCxn id="693" idx="1"/>
            <a:endCxn id="690" idx="3"/>
          </p:cNvCxnSpPr>
          <p:nvPr/>
        </p:nvCxnSpPr>
        <p:spPr>
          <a:xfrm rot="10800000">
            <a:off x="2697550" y="1173275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28"/>
          <p:cNvCxnSpPr>
            <a:stCxn id="691" idx="0"/>
            <a:endCxn id="690" idx="2"/>
          </p:cNvCxnSpPr>
          <p:nvPr/>
        </p:nvCxnSpPr>
        <p:spPr>
          <a:xfrm rot="10800000">
            <a:off x="1502488" y="2146000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28"/>
          <p:cNvCxnSpPr>
            <a:stCxn id="695" idx="0"/>
            <a:endCxn id="693" idx="2"/>
          </p:cNvCxnSpPr>
          <p:nvPr/>
        </p:nvCxnSpPr>
        <p:spPr>
          <a:xfrm rot="10800000">
            <a:off x="4469500" y="2146000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28"/>
          <p:cNvCxnSpPr>
            <a:stCxn id="695" idx="0"/>
            <a:endCxn id="694" idx="2"/>
          </p:cNvCxnSpPr>
          <p:nvPr/>
        </p:nvCxnSpPr>
        <p:spPr>
          <a:xfrm flipH="1" rot="10800000">
            <a:off x="4469500" y="2146000"/>
            <a:ext cx="296700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28"/>
          <p:cNvCxnSpPr>
            <a:stCxn id="692" idx="0"/>
            <a:endCxn id="694" idx="2"/>
          </p:cNvCxnSpPr>
          <p:nvPr/>
        </p:nvCxnSpPr>
        <p:spPr>
          <a:xfrm rot="10800000">
            <a:off x="7436500" y="2146000"/>
            <a:ext cx="0" cy="8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28"/>
          <p:cNvCxnSpPr>
            <a:stCxn id="694" idx="1"/>
            <a:endCxn id="693" idx="3"/>
          </p:cNvCxnSpPr>
          <p:nvPr/>
        </p:nvCxnSpPr>
        <p:spPr>
          <a:xfrm rot="10800000">
            <a:off x="5664550" y="1173275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28"/>
          <p:cNvSpPr/>
          <p:nvPr/>
        </p:nvSpPr>
        <p:spPr>
          <a:xfrm>
            <a:off x="642300" y="116325"/>
            <a:ext cx="7313100" cy="44910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旧版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9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200"/>
              <a:t>DB設計</a:t>
            </a:r>
            <a:r>
              <a:rPr lang="ja" sz="5200">
                <a:solidFill>
                  <a:srgbClr val="000000"/>
                </a:solidFill>
              </a:rPr>
              <a:t>図</a:t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714" name="Google Shape;714;p29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595959"/>
                </a:solidFill>
              </a:rPr>
              <a:t>2023/08/25現在予定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9" name="Google Shape;719;p30"/>
          <p:cNvGraphicFramePr/>
          <p:nvPr/>
        </p:nvGraphicFramePr>
        <p:xfrm>
          <a:off x="1262725" y="7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{52DE012C-848D-4E93-8091-4D8A4F4A11D4}</a:tableStyleId>
              </a:tblPr>
              <a:tblGrid>
                <a:gridCol w="666750"/>
                <a:gridCol w="1634100"/>
                <a:gridCol w="1705975"/>
                <a:gridCol w="1910000"/>
                <a:gridCol w="164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項番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テーブル名(論理)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テーブル名(物理)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属性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説明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userTbl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トランザクション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ユーザー情報を保有するテーブル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本棚DB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bookUserTbl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トランザクション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ユーザーと書籍</a:t>
                      </a:r>
                      <a:r>
                        <a:rPr lang="ja"/>
                        <a:t>情報</a:t>
                      </a:r>
                      <a:r>
                        <a:rPr lang="ja"/>
                        <a:t>をつなげるテーブル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0" name="Google Shape;720;p30"/>
          <p:cNvSpPr txBox="1"/>
          <p:nvPr/>
        </p:nvSpPr>
        <p:spPr>
          <a:xfrm>
            <a:off x="481675" y="334600"/>
            <a:ext cx="14478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テーブル一覧</a:t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3031975" y="2723500"/>
            <a:ext cx="1384200" cy="5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本棚DB</a:t>
            </a:r>
            <a:endParaRPr/>
          </a:p>
        </p:txBody>
      </p:sp>
      <p:sp>
        <p:nvSpPr>
          <p:cNvPr id="722" name="Google Shape;722;p30"/>
          <p:cNvSpPr/>
          <p:nvPr/>
        </p:nvSpPr>
        <p:spPr>
          <a:xfrm>
            <a:off x="1262725" y="2723488"/>
            <a:ext cx="1384200" cy="5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ユーザーDB</a:t>
            </a:r>
            <a:endParaRPr/>
          </a:p>
        </p:txBody>
      </p:sp>
      <p:cxnSp>
        <p:nvCxnSpPr>
          <p:cNvPr id="723" name="Google Shape;723;p30"/>
          <p:cNvCxnSpPr>
            <a:stCxn id="721" idx="1"/>
            <a:endCxn id="722" idx="3"/>
          </p:cNvCxnSpPr>
          <p:nvPr/>
        </p:nvCxnSpPr>
        <p:spPr>
          <a:xfrm rot="10800000">
            <a:off x="2646775" y="3022000"/>
            <a:ext cx="38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8" name="Google Shape;728;p31"/>
          <p:cNvGraphicFramePr/>
          <p:nvPr/>
        </p:nvGraphicFramePr>
        <p:xfrm>
          <a:off x="1262725" y="7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{52DE012C-848D-4E93-8091-4D8A4F4A11D4}</a:tableStyleId>
              </a:tblPr>
              <a:tblGrid>
                <a:gridCol w="542100"/>
                <a:gridCol w="1299250"/>
                <a:gridCol w="920675"/>
                <a:gridCol w="920675"/>
                <a:gridCol w="920675"/>
                <a:gridCol w="920675"/>
                <a:gridCol w="920675"/>
                <a:gridCol w="92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項番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フィールド名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長さ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KEY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デフォルト値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説明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user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〇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なし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ログイン時に使う</a:t>
                      </a:r>
                      <a:r>
                        <a:rPr lang="ja"/>
                        <a:t>メールアドレス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pass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8文字以上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なし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ログイン時に使うパスワード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userId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UNIQUE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なし？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登録</a:t>
                      </a:r>
                      <a:r>
                        <a:rPr lang="ja"/>
                        <a:t>年月日付＋項番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9" name="Google Shape;729;p31"/>
          <p:cNvSpPr txBox="1"/>
          <p:nvPr/>
        </p:nvSpPr>
        <p:spPr>
          <a:xfrm>
            <a:off x="735600" y="334600"/>
            <a:ext cx="14478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ユーザーDB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2"/>
          <p:cNvSpPr txBox="1"/>
          <p:nvPr/>
        </p:nvSpPr>
        <p:spPr>
          <a:xfrm>
            <a:off x="481675" y="334600"/>
            <a:ext cx="14478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</a:t>
            </a:r>
            <a:r>
              <a:rPr lang="ja"/>
              <a:t>DB</a:t>
            </a:r>
            <a:endParaRPr/>
          </a:p>
        </p:txBody>
      </p:sp>
      <p:graphicFrame>
        <p:nvGraphicFramePr>
          <p:cNvPr id="735" name="Google Shape;735;p32"/>
          <p:cNvGraphicFramePr/>
          <p:nvPr/>
        </p:nvGraphicFramePr>
        <p:xfrm>
          <a:off x="837900" y="7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{52DE012C-848D-4E93-8091-4D8A4F4A11D4}</a:tableStyleId>
              </a:tblPr>
              <a:tblGrid>
                <a:gridCol w="573400"/>
                <a:gridCol w="1488175"/>
                <a:gridCol w="818375"/>
                <a:gridCol w="818375"/>
                <a:gridCol w="818375"/>
                <a:gridCol w="621125"/>
                <a:gridCol w="901875"/>
                <a:gridCol w="932125"/>
                <a:gridCol w="81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項番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フィールド名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型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長さ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NULL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KEY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デフォルト値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説明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更新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user</a:t>
                      </a:r>
                      <a:r>
                        <a:rPr lang="ja"/>
                        <a:t>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未定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〇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なし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ユーザーDBの3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不可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76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〇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登録年月日＋項番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登録項番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不可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isbn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*************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ISBN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不可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bookName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r>
                        <a:rPr lang="ja">
                          <a:solidFill>
                            <a:schemeClr val="dk1"/>
                          </a:solidFill>
                        </a:rPr>
                        <a:t>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”不明”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書名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可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author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r>
                        <a:rPr lang="ja">
                          <a:solidFill>
                            <a:schemeClr val="dk1"/>
                          </a:solidFill>
                        </a:rPr>
                        <a:t>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NULL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“不明”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著者名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可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ndc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r>
                        <a:rPr lang="ja">
                          <a:solidFill>
                            <a:schemeClr val="dk1"/>
                          </a:solidFill>
                        </a:rPr>
                        <a:t>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***.***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NDC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可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6" name="Google Shape;736;p32"/>
          <p:cNvSpPr txBox="1"/>
          <p:nvPr/>
        </p:nvSpPr>
        <p:spPr>
          <a:xfrm>
            <a:off x="2183400" y="63150"/>
            <a:ext cx="6135600" cy="49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ログインしたユーザー</a:t>
            </a:r>
            <a:r>
              <a:rPr lang="ja"/>
              <a:t>ID</a:t>
            </a:r>
            <a:r>
              <a:rPr lang="ja"/>
              <a:t>と一致した書籍ＩＤを出すイメージ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1" name="Google Shape;741;p33"/>
          <p:cNvGraphicFramePr/>
          <p:nvPr/>
        </p:nvGraphicFramePr>
        <p:xfrm>
          <a:off x="1262725" y="7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{52DE012C-848D-4E93-8091-4D8A4F4A11D4}</a:tableStyleId>
              </a:tblPr>
              <a:tblGrid>
                <a:gridCol w="666750"/>
                <a:gridCol w="1634100"/>
                <a:gridCol w="1705975"/>
                <a:gridCol w="1910000"/>
                <a:gridCol w="164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項番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テーブル名(論理)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テーブル名(物理)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属性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説明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userTbl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トランザクション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ユーザー情報を保有するテーブル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書籍DB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bookTbl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トランザクション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書籍情報を保有するテーブル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本棚DB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bookUserTbl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トランザクション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ユーザーと書籍をつなげるテーブル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2" name="Google Shape;742;p33"/>
          <p:cNvSpPr txBox="1"/>
          <p:nvPr/>
        </p:nvSpPr>
        <p:spPr>
          <a:xfrm>
            <a:off x="481675" y="334600"/>
            <a:ext cx="14478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テーブル一覧</a:t>
            </a:r>
            <a:endParaRPr/>
          </a:p>
        </p:txBody>
      </p:sp>
      <p:sp>
        <p:nvSpPr>
          <p:cNvPr id="743" name="Google Shape;743;p33"/>
          <p:cNvSpPr/>
          <p:nvPr/>
        </p:nvSpPr>
        <p:spPr>
          <a:xfrm>
            <a:off x="1262725" y="3499700"/>
            <a:ext cx="1384200" cy="5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本棚DB</a:t>
            </a:r>
            <a:endParaRPr/>
          </a:p>
        </p:txBody>
      </p:sp>
      <p:sp>
        <p:nvSpPr>
          <p:cNvPr id="744" name="Google Shape;744;p33"/>
          <p:cNvSpPr/>
          <p:nvPr/>
        </p:nvSpPr>
        <p:spPr>
          <a:xfrm>
            <a:off x="3187800" y="4546500"/>
            <a:ext cx="1384200" cy="5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書籍DB </a:t>
            </a:r>
            <a:endParaRPr/>
          </a:p>
        </p:txBody>
      </p:sp>
      <p:sp>
        <p:nvSpPr>
          <p:cNvPr id="745" name="Google Shape;745;p33"/>
          <p:cNvSpPr/>
          <p:nvPr/>
        </p:nvSpPr>
        <p:spPr>
          <a:xfrm>
            <a:off x="3187800" y="3499700"/>
            <a:ext cx="1384200" cy="5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ユーザーDB</a:t>
            </a:r>
            <a:endParaRPr/>
          </a:p>
        </p:txBody>
      </p:sp>
      <p:cxnSp>
        <p:nvCxnSpPr>
          <p:cNvPr id="746" name="Google Shape;746;p33"/>
          <p:cNvCxnSpPr>
            <a:endCxn id="745" idx="1"/>
          </p:cNvCxnSpPr>
          <p:nvPr/>
        </p:nvCxnSpPr>
        <p:spPr>
          <a:xfrm>
            <a:off x="2646900" y="3798200"/>
            <a:ext cx="54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33"/>
          <p:cNvCxnSpPr>
            <a:stCxn id="743" idx="2"/>
            <a:endCxn id="744" idx="1"/>
          </p:cNvCxnSpPr>
          <p:nvPr/>
        </p:nvCxnSpPr>
        <p:spPr>
          <a:xfrm>
            <a:off x="1954825" y="4096700"/>
            <a:ext cx="1233000" cy="7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8" name="Google Shape;748;p33"/>
          <p:cNvSpPr/>
          <p:nvPr/>
        </p:nvSpPr>
        <p:spPr>
          <a:xfrm>
            <a:off x="581625" y="146675"/>
            <a:ext cx="7829100" cy="46275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旧版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4"/>
          <p:cNvSpPr txBox="1"/>
          <p:nvPr/>
        </p:nvSpPr>
        <p:spPr>
          <a:xfrm>
            <a:off x="405475" y="201100"/>
            <a:ext cx="1271700" cy="51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書籍DB</a:t>
            </a:r>
            <a:endParaRPr/>
          </a:p>
        </p:txBody>
      </p:sp>
      <p:graphicFrame>
        <p:nvGraphicFramePr>
          <p:cNvPr id="754" name="Google Shape;754;p34"/>
          <p:cNvGraphicFramePr/>
          <p:nvPr/>
        </p:nvGraphicFramePr>
        <p:xfrm>
          <a:off x="612125" y="7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{52DE012C-848D-4E93-8091-4D8A4F4A11D4}</a:tableStyleId>
              </a:tblPr>
              <a:tblGrid>
                <a:gridCol w="659575"/>
                <a:gridCol w="1508125"/>
                <a:gridCol w="1168725"/>
                <a:gridCol w="920675"/>
                <a:gridCol w="920675"/>
                <a:gridCol w="646525"/>
                <a:gridCol w="1194825"/>
                <a:gridCol w="92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項番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フィールド名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長さ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KEY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デフォルト値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説明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〇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登録項番：登録年月日＋項番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bookName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”不明”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書名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author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NOTNULL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“不明”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著者名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publisher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可変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出版社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日付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出版年月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6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ndc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7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***.***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NDC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isbn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文字列型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*************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ISBN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数値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ページ数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price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数値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値段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size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数値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>
                          <a:solidFill>
                            <a:schemeClr val="dk1"/>
                          </a:solidFill>
                        </a:rPr>
                        <a:t>大きさ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5" name="Google Shape;755;p34"/>
          <p:cNvSpPr/>
          <p:nvPr/>
        </p:nvSpPr>
        <p:spPr>
          <a:xfrm>
            <a:off x="667475" y="258000"/>
            <a:ext cx="7829100" cy="46275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旧版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